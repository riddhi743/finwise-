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530" r:id="rId5"/>
    <p:sldId id="531" r:id="rId6"/>
    <p:sldId id="539" r:id="rId7"/>
    <p:sldId id="533" r:id="rId8"/>
    <p:sldId id="534" r:id="rId9"/>
    <p:sldId id="536" r:id="rId10"/>
    <p:sldId id="546" r:id="rId11"/>
    <p:sldId id="541" r:id="rId12"/>
    <p:sldId id="538" r:id="rId13"/>
    <p:sldId id="543" r:id="rId14"/>
    <p:sldId id="54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2EE"/>
    <a:srgbClr val="F01688"/>
    <a:srgbClr val="2F21F3"/>
    <a:srgbClr val="FEB52B"/>
    <a:srgbClr val="F01689"/>
    <a:srgbClr val="6F22E3"/>
    <a:srgbClr val="E218A3"/>
    <a:srgbClr val="BA20DB"/>
    <a:srgbClr val="6A23F1"/>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8B9D7A-90B6-4818-BE24-EE2DADE26A2D}" v="129" dt="2025-11-12T21:17:09.1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94422"/>
  </p:normalViewPr>
  <p:slideViewPr>
    <p:cSldViewPr snapToGrid="0">
      <p:cViewPr varScale="1">
        <p:scale>
          <a:sx n="78" d="100"/>
          <a:sy n="78" d="100"/>
        </p:scale>
        <p:origin x="8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11/12/2025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dirty="0"/>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dirty="0"/>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dirty="0"/>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dirty="0"/>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dirty="0"/>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dirty="0"/>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dirty="0"/>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dirty="0"/>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dirty="0"/>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dirty="0"/>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dirty="0"/>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dirty="0"/>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dirty="0"/>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dirty="0"/>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dirty="0"/>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dirty="0"/>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dirty="0"/>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dirty="0"/>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dirty="0"/>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dirty="0"/>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dirty="0"/>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dirty="0"/>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dirty="0"/>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dirty="0"/>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dirty="0"/>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dirty="0"/>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dirty="0"/>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dirty="0"/>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dirty="0"/>
              <a:t>Click to edit Master title style</a:t>
            </a:r>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p:txBody>
          <a:bodyPr/>
          <a:lstStyle/>
          <a:p>
            <a:r>
              <a:rPr lang="en-US" dirty="0" err="1"/>
              <a:t>FinWise</a:t>
            </a:r>
            <a:endParaRPr lang="en-US" dirty="0"/>
          </a:p>
        </p:txBody>
      </p:sp>
      <p:sp>
        <p:nvSpPr>
          <p:cNvPr id="3" name="Subtitle 2">
            <a:extLst>
              <a:ext uri="{FF2B5EF4-FFF2-40B4-BE49-F238E27FC236}">
                <a16:creationId xmlns:a16="http://schemas.microsoft.com/office/drawing/2014/main" id="{696329B1-2D04-0F3A-1081-C5117D8CE122}"/>
              </a:ext>
            </a:extLst>
          </p:cNvPr>
          <p:cNvSpPr>
            <a:spLocks noGrp="1"/>
          </p:cNvSpPr>
          <p:nvPr>
            <p:ph type="subTitle" idx="1"/>
          </p:nvPr>
        </p:nvSpPr>
        <p:spPr/>
        <p:txBody>
          <a:bodyPr/>
          <a:lstStyle/>
          <a:p>
            <a:r>
              <a:rPr lang="en-US" dirty="0"/>
              <a:t>An Intelligent Approach to Personal Finance Tracking, Prediction, and Fraud Detection</a:t>
            </a:r>
          </a:p>
        </p:txBody>
      </p:sp>
    </p:spTree>
    <p:extLst>
      <p:ext uri="{BB962C8B-B14F-4D97-AF65-F5344CB8AC3E}">
        <p14:creationId xmlns:p14="http://schemas.microsoft.com/office/powerpoint/2010/main" val="1723491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p:txBody>
          <a:bodyPr>
            <a:normAutofit/>
          </a:bodyPr>
          <a:lstStyle/>
          <a:p>
            <a:r>
              <a:rPr lang="en-US" sz="4000" b="1" spc="600" dirty="0">
                <a:ln w="28575">
                  <a:noFill/>
                  <a:prstDash val="solid"/>
                </a:ln>
                <a:solidFill>
                  <a:schemeClr val="bg1"/>
                </a:solidFill>
                <a:latin typeface="Tw Cen MT" panose="020B0602020104020603" pitchFamily="34" charset="77"/>
              </a:rPr>
              <a:t>CONTENTS</a:t>
            </a:r>
            <a:endParaRPr lang="en-US" dirty="0"/>
          </a:p>
        </p:txBody>
      </p:sp>
      <p:sp>
        <p:nvSpPr>
          <p:cNvPr id="5" name="Slide Number Placeholder 4">
            <a:extLst>
              <a:ext uri="{FF2B5EF4-FFF2-40B4-BE49-F238E27FC236}">
                <a16:creationId xmlns:a16="http://schemas.microsoft.com/office/drawing/2014/main" id="{9157728F-9EA1-A705-8E4D-B7823E4F4C26}"/>
              </a:ext>
            </a:extLst>
          </p:cNvPr>
          <p:cNvSpPr>
            <a:spLocks noGrp="1"/>
          </p:cNvSpPr>
          <p:nvPr>
            <p:ph type="sldNum" sz="quarter" idx="11"/>
          </p:nvPr>
        </p:nvSpPr>
        <p:spPr/>
        <p:txBody>
          <a:bodyPr/>
          <a:lstStyle/>
          <a:p>
            <a:fld id="{294A09A9-5501-47C1-A89A-A340965A2BE2}" type="slidenum">
              <a:rPr lang="en-US" smtClean="0"/>
              <a:pPr/>
              <a:t>2</a:t>
            </a:fld>
            <a:endParaRPr lang="en-US" dirty="0"/>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a:xfrm>
            <a:off x="1536192" y="2212848"/>
            <a:ext cx="8878824" cy="3813048"/>
          </a:xfrm>
        </p:spPr>
        <p:txBody>
          <a:bodyPr/>
          <a:lstStyle/>
          <a:p>
            <a:pPr marL="342900" indent="-342900" algn="l">
              <a:lnSpc>
                <a:spcPct val="150000"/>
              </a:lnSpc>
              <a:buClr>
                <a:schemeClr val="accent6"/>
              </a:buClr>
              <a:buFont typeface="Courier New" panose="02070309020205020404" pitchFamily="49" charset="0"/>
              <a:buChar char="o"/>
            </a:pPr>
            <a:r>
              <a:rPr lang="en-US" sz="1800" b="1" dirty="0">
                <a:solidFill>
                  <a:schemeClr val="bg1"/>
                </a:solidFill>
                <a:latin typeface="Segoe UI Light" panose="020B0502040204020203" pitchFamily="34" charset="0"/>
                <a:cs typeface="Segoe UI Light" panose="020B0502040204020203" pitchFamily="34" charset="0"/>
              </a:rPr>
              <a:t>Introduction</a:t>
            </a:r>
          </a:p>
          <a:p>
            <a:pPr marL="342900" indent="-342900"/>
            <a:r>
              <a:rPr lang="en-IN" sz="1800" b="1" dirty="0"/>
              <a:t>Problem Statement</a:t>
            </a:r>
          </a:p>
          <a:p>
            <a:pPr marL="342900" indent="-342900"/>
            <a:r>
              <a:rPr lang="en-IN" sz="1800" b="1" dirty="0"/>
              <a:t>Proposed Solution</a:t>
            </a:r>
          </a:p>
          <a:p>
            <a:pPr marL="342900" indent="-342900"/>
            <a:r>
              <a:rPr lang="en-IN" sz="1800" b="1" dirty="0"/>
              <a:t>Goal &amp; Objectives</a:t>
            </a:r>
          </a:p>
          <a:p>
            <a:pPr marL="342900" indent="-342900"/>
            <a:r>
              <a:rPr lang="en-IN" sz="1800" b="1" dirty="0"/>
              <a:t>Technology Used</a:t>
            </a:r>
          </a:p>
          <a:p>
            <a:pPr marL="342900" indent="-342900"/>
            <a:r>
              <a:rPr lang="en-IN" sz="1800" b="1" dirty="0"/>
              <a:t>Key Features</a:t>
            </a:r>
          </a:p>
          <a:p>
            <a:pPr marL="342900" indent="-342900"/>
            <a:r>
              <a:rPr lang="en-IN" sz="1800" b="1" dirty="0"/>
              <a:t>Future Prospects</a:t>
            </a:r>
            <a:endParaRPr lang="en-US" sz="1800" b="1" dirty="0">
              <a:solidFill>
                <a:schemeClr val="bg1"/>
              </a:solidFill>
              <a:latin typeface="Segoe UI Light" panose="020B0502040204020203" pitchFamily="34" charset="0"/>
              <a:cs typeface="Segoe UI Light" panose="020B0502040204020203" pitchFamily="34" charset="0"/>
            </a:endParaRPr>
          </a:p>
        </p:txBody>
      </p:sp>
      <p:sp>
        <p:nvSpPr>
          <p:cNvPr id="4" name="Footer Placeholder 3">
            <a:extLst>
              <a:ext uri="{FF2B5EF4-FFF2-40B4-BE49-F238E27FC236}">
                <a16:creationId xmlns:a16="http://schemas.microsoft.com/office/drawing/2014/main" id="{DDD0AE42-75AF-229C-2692-C10ADA4FFA83}"/>
              </a:ext>
            </a:extLst>
          </p:cNvPr>
          <p:cNvSpPr>
            <a:spLocks noGrp="1"/>
          </p:cNvSpPr>
          <p:nvPr>
            <p:ph type="ftr" sz="quarter" idx="10"/>
          </p:nvPr>
        </p:nvSpPr>
        <p:spPr/>
        <p:txBody>
          <a:bodyPr/>
          <a:lstStyle/>
          <a:p>
            <a:r>
              <a:rPr lang="en-US" dirty="0"/>
              <a:t>FINWISE</a:t>
            </a:r>
          </a:p>
        </p:txBody>
      </p:sp>
    </p:spTree>
    <p:extLst>
      <p:ext uri="{BB962C8B-B14F-4D97-AF65-F5344CB8AC3E}">
        <p14:creationId xmlns:p14="http://schemas.microsoft.com/office/powerpoint/2010/main" val="3548027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73D4-535B-6DCC-2268-43A5E9E12C45}"/>
              </a:ext>
            </a:extLst>
          </p:cNvPr>
          <p:cNvSpPr>
            <a:spLocks noGrp="1"/>
          </p:cNvSpPr>
          <p:nvPr>
            <p:ph type="title"/>
          </p:nvPr>
        </p:nvSpPr>
        <p:spPr/>
        <p:txBody>
          <a:bodyPr/>
          <a:lstStyle/>
          <a:p>
            <a:r>
              <a:rPr lang="en-US" dirty="0"/>
              <a:t>introduction</a:t>
            </a:r>
          </a:p>
        </p:txBody>
      </p:sp>
      <p:sp>
        <p:nvSpPr>
          <p:cNvPr id="6" name="Slide Number Placeholder 5">
            <a:extLst>
              <a:ext uri="{FF2B5EF4-FFF2-40B4-BE49-F238E27FC236}">
                <a16:creationId xmlns:a16="http://schemas.microsoft.com/office/drawing/2014/main" id="{6459FCA3-0124-0FA6-220B-D72E8F8034C8}"/>
              </a:ext>
            </a:extLst>
          </p:cNvPr>
          <p:cNvSpPr>
            <a:spLocks noGrp="1"/>
          </p:cNvSpPr>
          <p:nvPr>
            <p:ph type="sldNum" sz="quarter" idx="12"/>
          </p:nvPr>
        </p:nvSpPr>
        <p:spPr/>
        <p:txBody>
          <a:bodyPr/>
          <a:lstStyle/>
          <a:p>
            <a:fld id="{294A09A9-5501-47C1-A89A-A340965A2BE2}" type="slidenum">
              <a:rPr lang="en-US" smtClean="0"/>
              <a:t>3</a:t>
            </a:fld>
            <a:endParaRPr lang="en-US" dirty="0"/>
          </a:p>
        </p:txBody>
      </p:sp>
      <p:sp>
        <p:nvSpPr>
          <p:cNvPr id="4" name="Footer Placeholder 3">
            <a:extLst>
              <a:ext uri="{FF2B5EF4-FFF2-40B4-BE49-F238E27FC236}">
                <a16:creationId xmlns:a16="http://schemas.microsoft.com/office/drawing/2014/main" id="{A107ABA7-FC97-4D42-C4BC-897A88CF39AF}"/>
              </a:ext>
            </a:extLst>
          </p:cNvPr>
          <p:cNvSpPr>
            <a:spLocks noGrp="1"/>
          </p:cNvSpPr>
          <p:nvPr>
            <p:ph type="ftr" sz="quarter" idx="11"/>
          </p:nvPr>
        </p:nvSpPr>
        <p:spPr/>
        <p:txBody>
          <a:bodyPr/>
          <a:lstStyle/>
          <a:p>
            <a:r>
              <a:rPr lang="en-US" dirty="0"/>
              <a:t>FINWISE</a:t>
            </a:r>
          </a:p>
        </p:txBody>
      </p:sp>
      <p:sp>
        <p:nvSpPr>
          <p:cNvPr id="8" name="Content Placeholder 7">
            <a:extLst>
              <a:ext uri="{FF2B5EF4-FFF2-40B4-BE49-F238E27FC236}">
                <a16:creationId xmlns:a16="http://schemas.microsoft.com/office/drawing/2014/main" id="{D403F457-F044-5BB1-CD25-A368DD3F4E06}"/>
              </a:ext>
            </a:extLst>
          </p:cNvPr>
          <p:cNvSpPr>
            <a:spLocks noGrp="1"/>
          </p:cNvSpPr>
          <p:nvPr>
            <p:ph sz="half" idx="2"/>
          </p:nvPr>
        </p:nvSpPr>
        <p:spPr>
          <a:xfrm>
            <a:off x="1536192" y="2300748"/>
            <a:ext cx="8964660" cy="3021060"/>
          </a:xfrm>
        </p:spPr>
        <p:txBody>
          <a:bodyPr/>
          <a:lstStyle/>
          <a:p>
            <a:pPr marL="0" indent="0">
              <a:buNone/>
            </a:pPr>
            <a:r>
              <a:rPr lang="en-US" dirty="0"/>
              <a:t>In today’s fast-paced world, managing personal finances has become increasingly challenging. People often struggle to balance income, expenses, savings, and investments effectively. To address this issue, our project introduces an </a:t>
            </a:r>
            <a:r>
              <a:rPr lang="en-US" b="1" dirty="0"/>
              <a:t>AI-powered Financial Management Application</a:t>
            </a:r>
            <a:r>
              <a:rPr lang="en-US" dirty="0"/>
              <a:t> that simplifies financial tracking and planning. Built using </a:t>
            </a:r>
            <a:r>
              <a:rPr lang="en-US" b="1" dirty="0"/>
              <a:t>Python</a:t>
            </a:r>
            <a:r>
              <a:rPr lang="en-US" dirty="0"/>
              <a:t> and </a:t>
            </a:r>
            <a:r>
              <a:rPr lang="en-US" b="1" dirty="0" err="1"/>
              <a:t>Streamlit</a:t>
            </a:r>
            <a:r>
              <a:rPr lang="en-US" dirty="0"/>
              <a:t>, the app helps users monitor their expenses, predict future savings, analyze stock trends, assess loan eligibility, and detect fraudulent activities. By combining data analytics with machine learning, the system empowers users to make smarter, data-driven financial decisions through an intuitive and user-friendly interface.</a:t>
            </a:r>
            <a:endParaRPr lang="en-IN" dirty="0"/>
          </a:p>
        </p:txBody>
      </p:sp>
    </p:spTree>
    <p:extLst>
      <p:ext uri="{BB962C8B-B14F-4D97-AF65-F5344CB8AC3E}">
        <p14:creationId xmlns:p14="http://schemas.microsoft.com/office/powerpoint/2010/main" val="1877080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a:xfrm>
            <a:off x="2228088" y="1307690"/>
            <a:ext cx="7735824" cy="904568"/>
          </a:xfrm>
        </p:spPr>
        <p:txBody>
          <a:bodyPr/>
          <a:lstStyle/>
          <a:p>
            <a:r>
              <a:rPr lang="en-US" dirty="0"/>
              <a:t>Problem statement</a:t>
            </a:r>
          </a:p>
        </p:txBody>
      </p:sp>
      <p:sp>
        <p:nvSpPr>
          <p:cNvPr id="3" name="Subtitle 2">
            <a:extLst>
              <a:ext uri="{FF2B5EF4-FFF2-40B4-BE49-F238E27FC236}">
                <a16:creationId xmlns:a16="http://schemas.microsoft.com/office/drawing/2014/main" id="{5A82A8B0-333F-633E-3FA7-D38DBFB10971}"/>
              </a:ext>
            </a:extLst>
          </p:cNvPr>
          <p:cNvSpPr>
            <a:spLocks noGrp="1"/>
          </p:cNvSpPr>
          <p:nvPr>
            <p:ph type="subTitle" idx="1"/>
          </p:nvPr>
        </p:nvSpPr>
        <p:spPr>
          <a:xfrm>
            <a:off x="2228088" y="2418736"/>
            <a:ext cx="7735824" cy="4355690"/>
          </a:xfrm>
        </p:spPr>
        <p:txBody>
          <a:bodyPr/>
          <a:lstStyle/>
          <a:p>
            <a:pPr algn="l"/>
            <a:r>
              <a:rPr lang="en-US" dirty="0"/>
              <a:t>Many individuals struggle to manage their personal finances effectively. Common issues include:</a:t>
            </a:r>
          </a:p>
          <a:p>
            <a:pPr marL="285750" indent="-285750" algn="l">
              <a:buFont typeface="Arial" panose="020B0604020202020204" pitchFamily="34" charset="0"/>
              <a:buChar char="•"/>
            </a:pPr>
            <a:r>
              <a:rPr lang="en-US" dirty="0"/>
              <a:t>Difficulty tracking </a:t>
            </a:r>
            <a:r>
              <a:rPr lang="en-US" b="1" dirty="0"/>
              <a:t>income, expenses, and savings</a:t>
            </a:r>
            <a:r>
              <a:rPr lang="en-US" dirty="0"/>
              <a:t>.</a:t>
            </a:r>
          </a:p>
          <a:p>
            <a:pPr marL="285750" indent="-285750" algn="l">
              <a:buFont typeface="Arial" panose="020B0604020202020204" pitchFamily="34" charset="0"/>
              <a:buChar char="•"/>
            </a:pPr>
            <a:r>
              <a:rPr lang="en-US" dirty="0"/>
              <a:t>Uncertainty about </a:t>
            </a:r>
            <a:r>
              <a:rPr lang="en-US" b="1" dirty="0"/>
              <a:t>future savings</a:t>
            </a:r>
            <a:r>
              <a:rPr lang="en-US" dirty="0"/>
              <a:t> and financial planning.</a:t>
            </a:r>
          </a:p>
          <a:p>
            <a:pPr marL="285750" indent="-285750" algn="l">
              <a:buFont typeface="Arial" panose="020B0604020202020204" pitchFamily="34" charset="0"/>
              <a:buChar char="•"/>
            </a:pPr>
            <a:r>
              <a:rPr lang="en-US" dirty="0"/>
              <a:t>Confusion regarding </a:t>
            </a:r>
            <a:r>
              <a:rPr lang="en-US" b="1" dirty="0"/>
              <a:t>loan eligibility</a:t>
            </a:r>
            <a:r>
              <a:rPr lang="en-US" dirty="0"/>
              <a:t> and repayment options.</a:t>
            </a:r>
          </a:p>
          <a:p>
            <a:pPr marL="285750" indent="-285750" algn="l">
              <a:buFont typeface="Arial" panose="020B0604020202020204" pitchFamily="34" charset="0"/>
              <a:buChar char="•"/>
            </a:pPr>
            <a:r>
              <a:rPr lang="en-US" dirty="0"/>
              <a:t>Lack of </a:t>
            </a:r>
            <a:r>
              <a:rPr lang="en-US" b="1" dirty="0" err="1"/>
              <a:t>personalised</a:t>
            </a:r>
            <a:r>
              <a:rPr lang="en-US" b="1" dirty="0"/>
              <a:t> financial guidance</a:t>
            </a:r>
            <a:r>
              <a:rPr lang="en-US" dirty="0"/>
              <a:t> based on individual income and spending patterns.</a:t>
            </a:r>
          </a:p>
          <a:p>
            <a:pPr algn="l"/>
            <a:r>
              <a:rPr lang="en-US" dirty="0"/>
              <a:t>This makes financial planning stressful and often leads to poor money management decisions.</a:t>
            </a:r>
          </a:p>
          <a:p>
            <a:endParaRPr lang="en-US" dirty="0"/>
          </a:p>
        </p:txBody>
      </p:sp>
    </p:spTree>
    <p:extLst>
      <p:ext uri="{BB962C8B-B14F-4D97-AF65-F5344CB8AC3E}">
        <p14:creationId xmlns:p14="http://schemas.microsoft.com/office/powerpoint/2010/main" val="3380759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10B5-D907-A977-7A9C-69F8BEB7BB3F}"/>
              </a:ext>
            </a:extLst>
          </p:cNvPr>
          <p:cNvSpPr>
            <a:spLocks noGrp="1"/>
          </p:cNvSpPr>
          <p:nvPr>
            <p:ph type="ctrTitle"/>
          </p:nvPr>
        </p:nvSpPr>
        <p:spPr>
          <a:xfrm>
            <a:off x="1524000" y="689812"/>
            <a:ext cx="9144000" cy="2739188"/>
          </a:xfrm>
        </p:spPr>
        <p:txBody>
          <a:bodyPr/>
          <a:lstStyle/>
          <a:p>
            <a:r>
              <a:rPr lang="en-IN" dirty="0"/>
              <a:t>Proposed Solution</a:t>
            </a:r>
            <a:endParaRPr lang="en-US" dirty="0"/>
          </a:p>
        </p:txBody>
      </p:sp>
      <p:sp>
        <p:nvSpPr>
          <p:cNvPr id="3" name="Subtitle 2">
            <a:extLst>
              <a:ext uri="{FF2B5EF4-FFF2-40B4-BE49-F238E27FC236}">
                <a16:creationId xmlns:a16="http://schemas.microsoft.com/office/drawing/2014/main" id="{C05FF0B8-5B51-7376-0271-8D849CA3F8A8}"/>
              </a:ext>
            </a:extLst>
          </p:cNvPr>
          <p:cNvSpPr>
            <a:spLocks noGrp="1"/>
          </p:cNvSpPr>
          <p:nvPr>
            <p:ph type="subTitle" idx="1"/>
          </p:nvPr>
        </p:nvSpPr>
        <p:spPr>
          <a:xfrm>
            <a:off x="1524000" y="3946358"/>
            <a:ext cx="9769642" cy="1620252"/>
          </a:xfrm>
        </p:spPr>
        <p:txBody>
          <a:bodyPr/>
          <a:lstStyle/>
          <a:p>
            <a:r>
              <a:rPr lang="en-US" b="1" dirty="0"/>
              <a:t>FINWISE:</a:t>
            </a:r>
            <a:r>
              <a:rPr lang="en-US" dirty="0"/>
              <a:t> An intelligent finance management app that not only tracks and predicts your finances but also safeguards against potential fraud.</a:t>
            </a:r>
          </a:p>
        </p:txBody>
      </p:sp>
    </p:spTree>
    <p:extLst>
      <p:ext uri="{BB962C8B-B14F-4D97-AF65-F5344CB8AC3E}">
        <p14:creationId xmlns:p14="http://schemas.microsoft.com/office/powerpoint/2010/main" val="54847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DEE9-2DBD-C997-C208-027230B5A3EA}"/>
              </a:ext>
            </a:extLst>
          </p:cNvPr>
          <p:cNvSpPr>
            <a:spLocks noGrp="1"/>
          </p:cNvSpPr>
          <p:nvPr>
            <p:ph type="title"/>
          </p:nvPr>
        </p:nvSpPr>
        <p:spPr>
          <a:xfrm>
            <a:off x="1098804" y="832104"/>
            <a:ext cx="9994392" cy="1069848"/>
          </a:xfrm>
        </p:spPr>
        <p:txBody>
          <a:bodyPr/>
          <a:lstStyle/>
          <a:p>
            <a:r>
              <a:rPr lang="en-IN" dirty="0"/>
              <a:t>Goal &amp; Objectives</a:t>
            </a:r>
            <a:br>
              <a:rPr lang="en-IN" dirty="0"/>
            </a:br>
            <a:endParaRPr lang="en-US" sz="4000" b="1" spc="600" dirty="0">
              <a:ln w="28575">
                <a:noFill/>
                <a:prstDash val="solid"/>
              </a:ln>
              <a:solidFill>
                <a:schemeClr val="bg1"/>
              </a:solidFill>
              <a:latin typeface="Tw Cen MT" panose="020B0602020104020603" pitchFamily="34" charset="77"/>
            </a:endParaRPr>
          </a:p>
        </p:txBody>
      </p:sp>
      <p:sp>
        <p:nvSpPr>
          <p:cNvPr id="5" name="Slide Number Placeholder 4">
            <a:extLst>
              <a:ext uri="{FF2B5EF4-FFF2-40B4-BE49-F238E27FC236}">
                <a16:creationId xmlns:a16="http://schemas.microsoft.com/office/drawing/2014/main" id="{F79CF1F9-4847-1440-0352-6D1284A48D05}"/>
              </a:ext>
            </a:extLst>
          </p:cNvPr>
          <p:cNvSpPr>
            <a:spLocks noGrp="1"/>
          </p:cNvSpPr>
          <p:nvPr>
            <p:ph type="sldNum" sz="quarter" idx="11"/>
          </p:nvPr>
        </p:nvSpPr>
        <p:spPr/>
        <p:txBody>
          <a:bodyPr/>
          <a:lstStyle/>
          <a:p>
            <a:fld id="{294A09A9-5501-47C1-A89A-A340965A2BE2}" type="slidenum">
              <a:rPr lang="en-US" smtClean="0"/>
              <a:pPr/>
              <a:t>6</a:t>
            </a:fld>
            <a:endParaRPr lang="en-US" dirty="0"/>
          </a:p>
        </p:txBody>
      </p:sp>
      <p:sp>
        <p:nvSpPr>
          <p:cNvPr id="3" name="Footer Placeholder 2">
            <a:extLst>
              <a:ext uri="{FF2B5EF4-FFF2-40B4-BE49-F238E27FC236}">
                <a16:creationId xmlns:a16="http://schemas.microsoft.com/office/drawing/2014/main" id="{D534491D-AF3A-C879-49E6-F11A17AC3008}"/>
              </a:ext>
            </a:extLst>
          </p:cNvPr>
          <p:cNvSpPr>
            <a:spLocks noGrp="1"/>
          </p:cNvSpPr>
          <p:nvPr>
            <p:ph type="ftr" sz="quarter" idx="10"/>
          </p:nvPr>
        </p:nvSpPr>
        <p:spPr/>
        <p:txBody>
          <a:bodyPr/>
          <a:lstStyle/>
          <a:p>
            <a:r>
              <a:rPr lang="en-US" dirty="0"/>
              <a:t>FINWISE</a:t>
            </a:r>
          </a:p>
        </p:txBody>
      </p:sp>
      <p:sp>
        <p:nvSpPr>
          <p:cNvPr id="7" name="Content Placeholder 6">
            <a:extLst>
              <a:ext uri="{FF2B5EF4-FFF2-40B4-BE49-F238E27FC236}">
                <a16:creationId xmlns:a16="http://schemas.microsoft.com/office/drawing/2014/main" id="{88F32B4A-8462-9EC4-9BAA-A3A33D9F0933}"/>
              </a:ext>
            </a:extLst>
          </p:cNvPr>
          <p:cNvSpPr>
            <a:spLocks noGrp="1"/>
          </p:cNvSpPr>
          <p:nvPr>
            <p:ph idx="1"/>
          </p:nvPr>
        </p:nvSpPr>
        <p:spPr>
          <a:xfrm>
            <a:off x="1014984" y="1976284"/>
            <a:ext cx="10332720" cy="3784436"/>
          </a:xfrm>
        </p:spPr>
        <p:txBody>
          <a:bodyPr/>
          <a:lstStyle/>
          <a:p>
            <a:pPr marL="0" indent="0">
              <a:buNone/>
            </a:pPr>
            <a:r>
              <a:rPr lang="en-US" sz="2000" dirty="0"/>
              <a:t>To develop an intelligent and user-friendly financial management system that helps users </a:t>
            </a:r>
            <a:r>
              <a:rPr lang="en-US" sz="2000" b="1" dirty="0"/>
              <a:t>track, analyze, and optimize their finances</a:t>
            </a:r>
            <a:r>
              <a:rPr lang="en-US" sz="2000" dirty="0"/>
              <a:t> through data-driven insights and predictive modeling.</a:t>
            </a:r>
          </a:p>
          <a:p>
            <a:pPr marL="0" indent="0">
              <a:buNone/>
            </a:pPr>
            <a:endParaRPr lang="en-IN" dirty="0"/>
          </a:p>
        </p:txBody>
      </p:sp>
      <p:sp>
        <p:nvSpPr>
          <p:cNvPr id="14" name="Rectangle 7">
            <a:extLst>
              <a:ext uri="{FF2B5EF4-FFF2-40B4-BE49-F238E27FC236}">
                <a16:creationId xmlns:a16="http://schemas.microsoft.com/office/drawing/2014/main" id="{DCF2B3B7-DE48-401D-35EB-29191C1B51EE}"/>
              </a:ext>
            </a:extLst>
          </p:cNvPr>
          <p:cNvSpPr>
            <a:spLocks noChangeArrowheads="1"/>
          </p:cNvSpPr>
          <p:nvPr/>
        </p:nvSpPr>
        <p:spPr bwMode="auto">
          <a:xfrm rot="10800000" flipV="1">
            <a:off x="1098803" y="2721124"/>
            <a:ext cx="1007821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2"/>
                </a:solidFill>
                <a:effectLst/>
              </a:rPr>
              <a:t>Automate Financial Tracking: </a:t>
            </a:r>
            <a:r>
              <a:rPr kumimoji="0" lang="en-US" altLang="en-US" sz="1800" b="0" i="0" u="none" strike="noStrike" cap="none" normalizeH="0" baseline="0" dirty="0">
                <a:ln>
                  <a:noFill/>
                </a:ln>
                <a:solidFill>
                  <a:schemeClr val="bg2"/>
                </a:solidFill>
                <a:effectLst/>
              </a:rPr>
              <a:t>Simplify the process of recording income, expenses, and savings.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2"/>
                </a:solidFill>
                <a:effectLst/>
              </a:rPr>
              <a:t>Predict Future Savings:</a:t>
            </a:r>
            <a:r>
              <a:rPr kumimoji="0" lang="en-US" altLang="en-US" sz="1800" b="0" i="0" u="none" strike="noStrike" cap="none" normalizeH="0" baseline="0" dirty="0">
                <a:ln>
                  <a:noFill/>
                </a:ln>
                <a:solidFill>
                  <a:schemeClr val="bg2"/>
                </a:solidFill>
                <a:effectLst/>
              </a:rPr>
              <a:t> Use machine learning to forecast upcoming savings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2"/>
                </a:solidFill>
                <a:effectLst/>
              </a:rPr>
              <a:t>Assess Loan Eligibility:</a:t>
            </a:r>
            <a:r>
              <a:rPr kumimoji="0" lang="en-US" altLang="en-US" sz="1800" b="0" i="0" u="none" strike="noStrike" cap="none" normalizeH="0" baseline="0" dirty="0">
                <a:ln>
                  <a:noFill/>
                </a:ln>
                <a:solidFill>
                  <a:schemeClr val="bg2"/>
                </a:solidFill>
                <a:effectLst/>
              </a:rPr>
              <a:t> Analyze financial data to estimate loan approval chances and suggest improvements.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2"/>
                </a:solidFill>
                <a:effectLst/>
              </a:rPr>
              <a:t>Detect Fraudulent Activities:</a:t>
            </a:r>
            <a:r>
              <a:rPr kumimoji="0" lang="en-US" altLang="en-US" sz="1800" b="0" i="0" u="none" strike="noStrike" cap="none" normalizeH="0" baseline="0" dirty="0">
                <a:ln>
                  <a:noFill/>
                </a:ln>
                <a:solidFill>
                  <a:schemeClr val="bg2"/>
                </a:solidFill>
                <a:effectLst/>
              </a:rPr>
              <a:t> Identify and flag unusual transactions to enhance financial 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2"/>
                </a:solidFill>
                <a:effectLst/>
              </a:rPr>
              <a:t>Provide Stock Market Insights:</a:t>
            </a:r>
            <a:r>
              <a:rPr kumimoji="0" lang="en-US" altLang="en-US" sz="1800" b="0" i="0" u="none" strike="noStrike" cap="none" normalizeH="0" baseline="0" dirty="0">
                <a:ln>
                  <a:noFill/>
                </a:ln>
                <a:solidFill>
                  <a:schemeClr val="bg2"/>
                </a:solidFill>
                <a:effectLst/>
              </a:rPr>
              <a:t> Offer trend analysis and predictive insights for smarter investments.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2"/>
                </a:solidFill>
                <a:effectLst/>
              </a:rPr>
              <a:t>Deliver Personalized Financial Advice:</a:t>
            </a:r>
            <a:r>
              <a:rPr kumimoji="0" lang="en-US" altLang="en-US" sz="1800" b="0" i="0" u="none" strike="noStrike" cap="none" normalizeH="0" baseline="0" dirty="0">
                <a:ln>
                  <a:noFill/>
                </a:ln>
                <a:solidFill>
                  <a:schemeClr val="bg2"/>
                </a:solidFill>
                <a:effectLst/>
              </a:rPr>
              <a:t> Suggest ways to improve savings and spending habits.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2"/>
                </a:solidFill>
                <a:effectLst/>
              </a:rPr>
              <a:t>Ensure Easy Accessibility:</a:t>
            </a:r>
            <a:r>
              <a:rPr kumimoji="0" lang="en-US" altLang="en-US" sz="1800" b="0" i="0" u="none" strike="noStrike" cap="none" normalizeH="0" baseline="0" dirty="0">
                <a:ln>
                  <a:noFill/>
                </a:ln>
                <a:solidFill>
                  <a:schemeClr val="bg2"/>
                </a:solidFill>
                <a:effectLst/>
              </a:rPr>
              <a:t> Build an interactive and visually appealing </a:t>
            </a:r>
            <a:r>
              <a:rPr kumimoji="0" lang="en-US" altLang="en-US" sz="1800" b="0" i="0" u="none" strike="noStrike" cap="none" normalizeH="0" baseline="0" dirty="0" err="1">
                <a:ln>
                  <a:noFill/>
                </a:ln>
                <a:solidFill>
                  <a:schemeClr val="bg2"/>
                </a:solidFill>
                <a:effectLst/>
              </a:rPr>
              <a:t>Streamlit</a:t>
            </a:r>
            <a:r>
              <a:rPr kumimoji="0" lang="en-US" altLang="en-US" sz="1800" b="0" i="0" u="none" strike="noStrike" cap="none" normalizeH="0" baseline="0" dirty="0">
                <a:ln>
                  <a:noFill/>
                </a:ln>
                <a:solidFill>
                  <a:schemeClr val="bg2"/>
                </a:solidFill>
                <a:effectLst/>
              </a:rPr>
              <a:t> interface.</a:t>
            </a:r>
          </a:p>
        </p:txBody>
      </p:sp>
    </p:spTree>
    <p:extLst>
      <p:ext uri="{BB962C8B-B14F-4D97-AF65-F5344CB8AC3E}">
        <p14:creationId xmlns:p14="http://schemas.microsoft.com/office/powerpoint/2010/main" val="1208724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itle 68">
            <a:extLst>
              <a:ext uri="{FF2B5EF4-FFF2-40B4-BE49-F238E27FC236}">
                <a16:creationId xmlns:a16="http://schemas.microsoft.com/office/drawing/2014/main" id="{0B07383B-6310-56A6-B051-F4B962E11786}"/>
              </a:ext>
            </a:extLst>
          </p:cNvPr>
          <p:cNvSpPr>
            <a:spLocks noGrp="1"/>
          </p:cNvSpPr>
          <p:nvPr>
            <p:ph type="title"/>
          </p:nvPr>
        </p:nvSpPr>
        <p:spPr/>
        <p:txBody>
          <a:bodyPr/>
          <a:lstStyle/>
          <a:p>
            <a:pPr marL="342900" indent="-342900"/>
            <a:r>
              <a:rPr lang="en-IN" dirty="0"/>
              <a:t>Technology Used</a:t>
            </a:r>
          </a:p>
        </p:txBody>
      </p:sp>
      <p:sp>
        <p:nvSpPr>
          <p:cNvPr id="4" name="Text Placeholder 3">
            <a:extLst>
              <a:ext uri="{FF2B5EF4-FFF2-40B4-BE49-F238E27FC236}">
                <a16:creationId xmlns:a16="http://schemas.microsoft.com/office/drawing/2014/main" id="{55DA2D8B-92F5-22B2-084C-934BCBC00DFD}"/>
              </a:ext>
            </a:extLst>
          </p:cNvPr>
          <p:cNvSpPr>
            <a:spLocks noGrp="1"/>
          </p:cNvSpPr>
          <p:nvPr>
            <p:ph type="body" sz="quarter" idx="12"/>
          </p:nvPr>
        </p:nvSpPr>
        <p:spPr>
          <a:xfrm>
            <a:off x="727339" y="2476706"/>
            <a:ext cx="2098157" cy="704088"/>
          </a:xfrm>
        </p:spPr>
        <p:txBody>
          <a:bodyPr/>
          <a:lstStyle/>
          <a:p>
            <a:r>
              <a:rPr lang="en-IN" dirty="0"/>
              <a:t>Programming Language</a:t>
            </a:r>
            <a:endParaRPr lang="en-US" dirty="0"/>
          </a:p>
        </p:txBody>
      </p:sp>
      <p:sp>
        <p:nvSpPr>
          <p:cNvPr id="5" name="Text Placeholder 4">
            <a:extLst>
              <a:ext uri="{FF2B5EF4-FFF2-40B4-BE49-F238E27FC236}">
                <a16:creationId xmlns:a16="http://schemas.microsoft.com/office/drawing/2014/main" id="{8B004B5D-BB88-E446-FDC1-8BE748EFE8B6}"/>
              </a:ext>
            </a:extLst>
          </p:cNvPr>
          <p:cNvSpPr>
            <a:spLocks noGrp="1"/>
          </p:cNvSpPr>
          <p:nvPr>
            <p:ph type="body" sz="quarter" idx="13"/>
          </p:nvPr>
        </p:nvSpPr>
        <p:spPr/>
        <p:txBody>
          <a:bodyPr/>
          <a:lstStyle/>
          <a:p>
            <a:r>
              <a:rPr lang="en-US" b="1" dirty="0"/>
              <a:t>Python</a:t>
            </a:r>
            <a:r>
              <a:rPr lang="en-US" dirty="0"/>
              <a:t> – Core language for data processing, ML model training, and app development</a:t>
            </a:r>
          </a:p>
        </p:txBody>
      </p:sp>
      <p:sp>
        <p:nvSpPr>
          <p:cNvPr id="6" name="Text Placeholder 5">
            <a:extLst>
              <a:ext uri="{FF2B5EF4-FFF2-40B4-BE49-F238E27FC236}">
                <a16:creationId xmlns:a16="http://schemas.microsoft.com/office/drawing/2014/main" id="{98AC0C5B-16A7-E317-7222-BF9FA26C0DC6}"/>
              </a:ext>
            </a:extLst>
          </p:cNvPr>
          <p:cNvSpPr>
            <a:spLocks noGrp="1"/>
          </p:cNvSpPr>
          <p:nvPr>
            <p:ph type="body" sz="quarter" idx="14"/>
          </p:nvPr>
        </p:nvSpPr>
        <p:spPr/>
        <p:txBody>
          <a:bodyPr/>
          <a:lstStyle/>
          <a:p>
            <a:r>
              <a:rPr lang="en-IN" dirty="0"/>
              <a:t>Framework</a:t>
            </a:r>
            <a:endParaRPr lang="en-US" dirty="0"/>
          </a:p>
        </p:txBody>
      </p:sp>
      <p:sp>
        <p:nvSpPr>
          <p:cNvPr id="7" name="Text Placeholder 6">
            <a:extLst>
              <a:ext uri="{FF2B5EF4-FFF2-40B4-BE49-F238E27FC236}">
                <a16:creationId xmlns:a16="http://schemas.microsoft.com/office/drawing/2014/main" id="{77D9B67F-AD02-4BA5-209B-C91070303A72}"/>
              </a:ext>
            </a:extLst>
          </p:cNvPr>
          <p:cNvSpPr>
            <a:spLocks noGrp="1"/>
          </p:cNvSpPr>
          <p:nvPr>
            <p:ph type="body" sz="quarter" idx="15"/>
          </p:nvPr>
        </p:nvSpPr>
        <p:spPr/>
        <p:txBody>
          <a:bodyPr/>
          <a:lstStyle/>
          <a:p>
            <a:r>
              <a:rPr lang="en-US" b="1" dirty="0" err="1"/>
              <a:t>Streamlit</a:t>
            </a:r>
            <a:r>
              <a:rPr lang="en-US" dirty="0"/>
              <a:t> – For building an interactive and user-friendly web interface</a:t>
            </a:r>
          </a:p>
        </p:txBody>
      </p:sp>
      <p:sp>
        <p:nvSpPr>
          <p:cNvPr id="8" name="Text Placeholder 7">
            <a:extLst>
              <a:ext uri="{FF2B5EF4-FFF2-40B4-BE49-F238E27FC236}">
                <a16:creationId xmlns:a16="http://schemas.microsoft.com/office/drawing/2014/main" id="{6269FBD2-F371-6F7E-1D42-95EFADFA10DD}"/>
              </a:ext>
            </a:extLst>
          </p:cNvPr>
          <p:cNvSpPr>
            <a:spLocks noGrp="1"/>
          </p:cNvSpPr>
          <p:nvPr>
            <p:ph type="body" sz="quarter" idx="16"/>
          </p:nvPr>
        </p:nvSpPr>
        <p:spPr/>
        <p:txBody>
          <a:bodyPr/>
          <a:lstStyle/>
          <a:p>
            <a:r>
              <a:rPr lang="en-IN" dirty="0"/>
              <a:t>Libraries &amp; Tools</a:t>
            </a:r>
            <a:endParaRPr lang="en-US" dirty="0"/>
          </a:p>
        </p:txBody>
      </p:sp>
      <p:sp>
        <p:nvSpPr>
          <p:cNvPr id="10" name="Text Placeholder 9">
            <a:extLst>
              <a:ext uri="{FF2B5EF4-FFF2-40B4-BE49-F238E27FC236}">
                <a16:creationId xmlns:a16="http://schemas.microsoft.com/office/drawing/2014/main" id="{6A9C835B-EE7B-2801-6842-7044F690144A}"/>
              </a:ext>
            </a:extLst>
          </p:cNvPr>
          <p:cNvSpPr>
            <a:spLocks noGrp="1"/>
          </p:cNvSpPr>
          <p:nvPr>
            <p:ph type="body" sz="quarter" idx="18"/>
          </p:nvPr>
        </p:nvSpPr>
        <p:spPr/>
        <p:txBody>
          <a:bodyPr/>
          <a:lstStyle/>
          <a:p>
            <a:r>
              <a:rPr lang="en-IN" dirty="0"/>
              <a:t>Data Handling</a:t>
            </a:r>
            <a:endParaRPr lang="en-US" dirty="0"/>
          </a:p>
        </p:txBody>
      </p:sp>
      <p:sp>
        <p:nvSpPr>
          <p:cNvPr id="11" name="Text Placeholder 10">
            <a:extLst>
              <a:ext uri="{FF2B5EF4-FFF2-40B4-BE49-F238E27FC236}">
                <a16:creationId xmlns:a16="http://schemas.microsoft.com/office/drawing/2014/main" id="{429544CE-BE3D-F6DD-FADE-D85F729A9BCC}"/>
              </a:ext>
            </a:extLst>
          </p:cNvPr>
          <p:cNvSpPr>
            <a:spLocks noGrp="1"/>
          </p:cNvSpPr>
          <p:nvPr>
            <p:ph type="body" sz="quarter" idx="19"/>
          </p:nvPr>
        </p:nvSpPr>
        <p:spPr/>
        <p:txBody>
          <a:bodyPr/>
          <a:lstStyle/>
          <a:p>
            <a:r>
              <a:rPr lang="en-US" b="1" dirty="0"/>
              <a:t>CSV &amp; JSON Files</a:t>
            </a:r>
            <a:r>
              <a:rPr lang="en-US" dirty="0"/>
              <a:t> – For storing user profiles, financial records, and historical data</a:t>
            </a:r>
          </a:p>
        </p:txBody>
      </p:sp>
      <p:sp>
        <p:nvSpPr>
          <p:cNvPr id="81" name="Text Placeholder 80">
            <a:extLst>
              <a:ext uri="{FF2B5EF4-FFF2-40B4-BE49-F238E27FC236}">
                <a16:creationId xmlns:a16="http://schemas.microsoft.com/office/drawing/2014/main" id="{2AF0BD8F-E098-8282-AE8C-8BFAB5EBBFC2}"/>
              </a:ext>
            </a:extLst>
          </p:cNvPr>
          <p:cNvSpPr>
            <a:spLocks noGrp="1"/>
          </p:cNvSpPr>
          <p:nvPr>
            <p:ph type="body" sz="quarter" idx="20"/>
          </p:nvPr>
        </p:nvSpPr>
        <p:spPr>
          <a:xfrm>
            <a:off x="9372600" y="2478025"/>
            <a:ext cx="2241884" cy="702769"/>
          </a:xfrm>
        </p:spPr>
        <p:txBody>
          <a:bodyPr/>
          <a:lstStyle/>
          <a:p>
            <a:r>
              <a:rPr lang="en-IN" dirty="0"/>
              <a:t>Additional Components</a:t>
            </a:r>
            <a:endParaRPr lang="en-US" dirty="0"/>
          </a:p>
        </p:txBody>
      </p:sp>
      <p:sp>
        <p:nvSpPr>
          <p:cNvPr id="2" name="Text Placeholder 1">
            <a:extLst>
              <a:ext uri="{FF2B5EF4-FFF2-40B4-BE49-F238E27FC236}">
                <a16:creationId xmlns:a16="http://schemas.microsoft.com/office/drawing/2014/main" id="{D733E31E-F298-485B-42BF-303CC635241F}"/>
              </a:ext>
            </a:extLst>
          </p:cNvPr>
          <p:cNvSpPr>
            <a:spLocks noGrp="1"/>
          </p:cNvSpPr>
          <p:nvPr>
            <p:ph type="body" sz="quarter" idx="21"/>
          </p:nvPr>
        </p:nvSpPr>
        <p:spPr>
          <a:xfrm>
            <a:off x="9372600" y="3236976"/>
            <a:ext cx="2241884" cy="1856232"/>
          </a:xfrm>
        </p:spPr>
        <p:txBody>
          <a:bodyPr/>
          <a:lstStyle/>
          <a:p>
            <a:r>
              <a:rPr lang="en-US" b="1" dirty="0"/>
              <a:t>Fraud Detection Module</a:t>
            </a:r>
            <a:r>
              <a:rPr lang="en-US" dirty="0"/>
              <a:t> – Uses data patterns to flag suspicious </a:t>
            </a:r>
          </a:p>
          <a:p>
            <a:r>
              <a:rPr lang="en-US" b="1" dirty="0"/>
              <a:t>Stock Analysis Module</a:t>
            </a:r>
            <a:r>
              <a:rPr lang="en-US" dirty="0"/>
              <a:t> – Analyzes and visualizes </a:t>
            </a:r>
            <a:r>
              <a:rPr lang="en-US" dirty="0" err="1"/>
              <a:t>stocktrends</a:t>
            </a:r>
            <a:endParaRPr lang="en-US" dirty="0"/>
          </a:p>
        </p:txBody>
      </p:sp>
      <p:sp>
        <p:nvSpPr>
          <p:cNvPr id="13" name="Text Placeholder 10">
            <a:extLst>
              <a:ext uri="{FF2B5EF4-FFF2-40B4-BE49-F238E27FC236}">
                <a16:creationId xmlns:a16="http://schemas.microsoft.com/office/drawing/2014/main" id="{777787A7-504B-E758-B60F-636B482F4A52}"/>
              </a:ext>
            </a:extLst>
          </p:cNvPr>
          <p:cNvSpPr txBox="1">
            <a:spLocks/>
          </p:cNvSpPr>
          <p:nvPr/>
        </p:nvSpPr>
        <p:spPr>
          <a:xfrm>
            <a:off x="5041352" y="3236976"/>
            <a:ext cx="2093976" cy="1856232"/>
          </a:xfrm>
          <a:prstGeom prst="rect">
            <a:avLst/>
          </a:prstGeom>
          <a:ln w="12700">
            <a:solidFill>
              <a:schemeClr val="bg1"/>
            </a:solidFill>
          </a:ln>
        </p:spPr>
        <p:txBody>
          <a:bodyPr vert="horz" lIns="256032" tIns="201168" rIns="274320" bIns="45720" rtlCol="0" anchor="t">
            <a:noAutofit/>
          </a:bodyPr>
          <a:lstStyle>
            <a:lvl1pPr marL="0" indent="0" algn="l" defTabSz="914400" rtl="0" eaLnBrk="1" latinLnBrk="0" hangingPunct="1">
              <a:lnSpc>
                <a:spcPct val="100000"/>
              </a:lnSpc>
              <a:spcBef>
                <a:spcPts val="0"/>
              </a:spcBef>
              <a:buClr>
                <a:schemeClr val="accent6"/>
              </a:buClr>
              <a:buFont typeface="Courier New" panose="02070309020205020404" pitchFamily="49" charset="0"/>
              <a:buNone/>
              <a:defRPr sz="1400" kern="1200" spc="0" baseline="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endParaRPr lang="en-US" dirty="0"/>
          </a:p>
        </p:txBody>
      </p:sp>
      <p:sp>
        <p:nvSpPr>
          <p:cNvPr id="15" name="Text Placeholder 14">
            <a:extLst>
              <a:ext uri="{FF2B5EF4-FFF2-40B4-BE49-F238E27FC236}">
                <a16:creationId xmlns:a16="http://schemas.microsoft.com/office/drawing/2014/main" id="{C5E7D333-0482-975A-BC83-83D9D1EC25DC}"/>
              </a:ext>
            </a:extLst>
          </p:cNvPr>
          <p:cNvSpPr>
            <a:spLocks noGrp="1"/>
          </p:cNvSpPr>
          <p:nvPr>
            <p:ph type="body" sz="quarter" idx="17"/>
          </p:nvPr>
        </p:nvSpPr>
        <p:spPr/>
        <p:txBody>
          <a:bodyPr/>
          <a:lstStyle/>
          <a:p>
            <a:pPr lvl="0" eaLnBrk="0" fontAlgn="base" hangingPunct="0">
              <a:spcBef>
                <a:spcPct val="0"/>
              </a:spcBef>
              <a:spcAft>
                <a:spcPct val="0"/>
              </a:spcAft>
              <a:buClrTx/>
            </a:pPr>
            <a:r>
              <a:rPr lang="en-US" altLang="en-US" b="1" dirty="0">
                <a:solidFill>
                  <a:schemeClr val="bg2"/>
                </a:solidFill>
              </a:rPr>
              <a:t>Pandas, NumPy .</a:t>
            </a:r>
          </a:p>
          <a:p>
            <a:pPr lvl="0" eaLnBrk="0" fontAlgn="base" hangingPunct="0">
              <a:spcBef>
                <a:spcPct val="0"/>
              </a:spcBef>
              <a:spcAft>
                <a:spcPct val="0"/>
              </a:spcAft>
              <a:buClrTx/>
            </a:pPr>
            <a:r>
              <a:rPr lang="en-US" altLang="en-US" b="1" dirty="0">
                <a:solidFill>
                  <a:schemeClr val="bg2"/>
                </a:solidFill>
              </a:rPr>
              <a:t>Scikit-learn,</a:t>
            </a:r>
          </a:p>
          <a:p>
            <a:pPr lvl="0" eaLnBrk="0" fontAlgn="base" hangingPunct="0">
              <a:spcBef>
                <a:spcPct val="0"/>
              </a:spcBef>
              <a:spcAft>
                <a:spcPct val="0"/>
              </a:spcAft>
              <a:buClrTx/>
            </a:pPr>
            <a:r>
              <a:rPr lang="en-US" altLang="en-US" b="1" dirty="0" err="1">
                <a:solidFill>
                  <a:schemeClr val="bg2"/>
                </a:solidFill>
              </a:rPr>
              <a:t>Matplotlib,Seaborn,Joblib</a:t>
            </a:r>
            <a:r>
              <a:rPr lang="en-US" altLang="en-US" b="1" dirty="0">
                <a:solidFill>
                  <a:schemeClr val="bg2"/>
                </a:solidFill>
              </a:rPr>
              <a:t> </a:t>
            </a:r>
          </a:p>
        </p:txBody>
      </p:sp>
    </p:spTree>
    <p:extLst>
      <p:ext uri="{BB962C8B-B14F-4D97-AF65-F5344CB8AC3E}">
        <p14:creationId xmlns:p14="http://schemas.microsoft.com/office/powerpoint/2010/main" val="1430138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57144164-5503-9D11-4F68-81F4CD378333}"/>
              </a:ext>
            </a:extLst>
          </p:cNvPr>
          <p:cNvSpPr>
            <a:spLocks noGrp="1"/>
          </p:cNvSpPr>
          <p:nvPr>
            <p:ph type="title"/>
          </p:nvPr>
        </p:nvSpPr>
        <p:spPr/>
        <p:txBody>
          <a:bodyPr/>
          <a:lstStyle/>
          <a:p>
            <a:r>
              <a:rPr lang="en-IN" dirty="0"/>
              <a:t>Key features</a:t>
            </a:r>
            <a:endParaRPr lang="en-US" dirty="0"/>
          </a:p>
        </p:txBody>
      </p:sp>
      <p:sp>
        <p:nvSpPr>
          <p:cNvPr id="11" name="Slide Number Placeholder 10">
            <a:extLst>
              <a:ext uri="{FF2B5EF4-FFF2-40B4-BE49-F238E27FC236}">
                <a16:creationId xmlns:a16="http://schemas.microsoft.com/office/drawing/2014/main" id="{F02CA379-5C0D-5E21-B070-E880A01BB9A7}"/>
              </a:ext>
            </a:extLst>
          </p:cNvPr>
          <p:cNvSpPr>
            <a:spLocks noGrp="1"/>
          </p:cNvSpPr>
          <p:nvPr>
            <p:ph type="sldNum" sz="quarter" idx="11"/>
          </p:nvPr>
        </p:nvSpPr>
        <p:spPr/>
        <p:txBody>
          <a:bodyPr/>
          <a:lstStyle/>
          <a:p>
            <a:fld id="{294A09A9-5501-47C1-A89A-A340965A2BE2}" type="slidenum">
              <a:rPr lang="en-US" smtClean="0"/>
              <a:pPr/>
              <a:t>8</a:t>
            </a:fld>
            <a:endParaRPr lang="en-US" dirty="0"/>
          </a:p>
        </p:txBody>
      </p:sp>
      <p:sp>
        <p:nvSpPr>
          <p:cNvPr id="3" name="Text Placeholder 2">
            <a:extLst>
              <a:ext uri="{FF2B5EF4-FFF2-40B4-BE49-F238E27FC236}">
                <a16:creationId xmlns:a16="http://schemas.microsoft.com/office/drawing/2014/main" id="{CFC225EB-9239-A8F4-48C2-D2E44A245C26}"/>
              </a:ext>
            </a:extLst>
          </p:cNvPr>
          <p:cNvSpPr>
            <a:spLocks noGrp="1"/>
          </p:cNvSpPr>
          <p:nvPr>
            <p:ph type="body" sz="quarter" idx="12"/>
          </p:nvPr>
        </p:nvSpPr>
        <p:spPr>
          <a:xfrm>
            <a:off x="850392" y="3172968"/>
            <a:ext cx="2974356" cy="310896"/>
          </a:xfrm>
        </p:spPr>
        <p:txBody>
          <a:bodyPr/>
          <a:lstStyle/>
          <a:p>
            <a:r>
              <a:rPr lang="en-IN" dirty="0"/>
              <a:t>Expense &amp; Income Tracking</a:t>
            </a:r>
            <a:endParaRPr lang="en-US" dirty="0"/>
          </a:p>
        </p:txBody>
      </p:sp>
      <p:sp>
        <p:nvSpPr>
          <p:cNvPr id="4" name="Text Placeholder 3">
            <a:extLst>
              <a:ext uri="{FF2B5EF4-FFF2-40B4-BE49-F238E27FC236}">
                <a16:creationId xmlns:a16="http://schemas.microsoft.com/office/drawing/2014/main" id="{BF63BCC4-AF80-8D3B-413B-3F80C74503EE}"/>
              </a:ext>
            </a:extLst>
          </p:cNvPr>
          <p:cNvSpPr>
            <a:spLocks noGrp="1"/>
          </p:cNvSpPr>
          <p:nvPr>
            <p:ph type="body" sz="quarter" idx="13"/>
          </p:nvPr>
        </p:nvSpPr>
        <p:spPr>
          <a:xfrm>
            <a:off x="1176854" y="3447288"/>
            <a:ext cx="2286000" cy="512064"/>
          </a:xfrm>
        </p:spPr>
        <p:txBody>
          <a:bodyPr/>
          <a:lstStyle/>
          <a:p>
            <a:r>
              <a:rPr lang="en-US" sz="1200" dirty="0"/>
              <a:t>record and visualize their spending and earnings easily.</a:t>
            </a:r>
          </a:p>
        </p:txBody>
      </p:sp>
      <p:sp>
        <p:nvSpPr>
          <p:cNvPr id="131" name="Text Placeholder 130">
            <a:extLst>
              <a:ext uri="{FF2B5EF4-FFF2-40B4-BE49-F238E27FC236}">
                <a16:creationId xmlns:a16="http://schemas.microsoft.com/office/drawing/2014/main" id="{29B0FDD4-0C9D-9FEE-0CB5-5341E9A67D6A}"/>
              </a:ext>
            </a:extLst>
          </p:cNvPr>
          <p:cNvSpPr>
            <a:spLocks noGrp="1"/>
          </p:cNvSpPr>
          <p:nvPr>
            <p:ph type="body" sz="quarter" idx="28"/>
          </p:nvPr>
        </p:nvSpPr>
        <p:spPr>
          <a:xfrm>
            <a:off x="1176854" y="5358384"/>
            <a:ext cx="2286000" cy="265176"/>
          </a:xfrm>
        </p:spPr>
        <p:txBody>
          <a:bodyPr/>
          <a:lstStyle/>
          <a:p>
            <a:r>
              <a:rPr lang="en-IN" dirty="0"/>
              <a:t>Data-Driven Insights</a:t>
            </a:r>
            <a:endParaRPr lang="en-US" dirty="0"/>
          </a:p>
        </p:txBody>
      </p:sp>
      <p:sp>
        <p:nvSpPr>
          <p:cNvPr id="132" name="Text Placeholder 131">
            <a:extLst>
              <a:ext uri="{FF2B5EF4-FFF2-40B4-BE49-F238E27FC236}">
                <a16:creationId xmlns:a16="http://schemas.microsoft.com/office/drawing/2014/main" id="{0E6B790C-A9A2-BF33-11DC-2AA2B45ADDDE}"/>
              </a:ext>
            </a:extLst>
          </p:cNvPr>
          <p:cNvSpPr>
            <a:spLocks noGrp="1"/>
          </p:cNvSpPr>
          <p:nvPr>
            <p:ph type="body" sz="quarter" idx="29"/>
          </p:nvPr>
        </p:nvSpPr>
        <p:spPr/>
        <p:txBody>
          <a:bodyPr/>
          <a:lstStyle/>
          <a:p>
            <a:r>
              <a:rPr lang="en-US" sz="1200" dirty="0"/>
              <a:t>Provides charts, trends, and summaries</a:t>
            </a:r>
          </a:p>
        </p:txBody>
      </p:sp>
      <p:sp>
        <p:nvSpPr>
          <p:cNvPr id="5" name="Text Placeholder 4">
            <a:extLst>
              <a:ext uri="{FF2B5EF4-FFF2-40B4-BE49-F238E27FC236}">
                <a16:creationId xmlns:a16="http://schemas.microsoft.com/office/drawing/2014/main" id="{664EAAE3-47A6-DF8C-088B-8353E312893A}"/>
              </a:ext>
            </a:extLst>
          </p:cNvPr>
          <p:cNvSpPr>
            <a:spLocks noGrp="1"/>
          </p:cNvSpPr>
          <p:nvPr>
            <p:ph type="body" sz="quarter" idx="14"/>
          </p:nvPr>
        </p:nvSpPr>
        <p:spPr>
          <a:xfrm>
            <a:off x="3701128" y="3209543"/>
            <a:ext cx="2286000" cy="305813"/>
          </a:xfrm>
        </p:spPr>
        <p:txBody>
          <a:bodyPr/>
          <a:lstStyle/>
          <a:p>
            <a:r>
              <a:rPr lang="en-IN" dirty="0"/>
              <a:t>Savings Prediction</a:t>
            </a:r>
            <a:endParaRPr lang="en-US" dirty="0"/>
          </a:p>
        </p:txBody>
      </p:sp>
      <p:sp>
        <p:nvSpPr>
          <p:cNvPr id="6" name="Text Placeholder 5">
            <a:extLst>
              <a:ext uri="{FF2B5EF4-FFF2-40B4-BE49-F238E27FC236}">
                <a16:creationId xmlns:a16="http://schemas.microsoft.com/office/drawing/2014/main" id="{8E956031-A8E2-FF88-2769-10FEB7B754A7}"/>
              </a:ext>
            </a:extLst>
          </p:cNvPr>
          <p:cNvSpPr>
            <a:spLocks noGrp="1"/>
          </p:cNvSpPr>
          <p:nvPr>
            <p:ph type="body" sz="quarter" idx="15"/>
          </p:nvPr>
        </p:nvSpPr>
        <p:spPr>
          <a:xfrm>
            <a:off x="3701128" y="3447288"/>
            <a:ext cx="2286000" cy="512064"/>
          </a:xfrm>
        </p:spPr>
        <p:txBody>
          <a:bodyPr/>
          <a:lstStyle/>
          <a:p>
            <a:r>
              <a:rPr lang="en-US" sz="1200" dirty="0"/>
              <a:t>Predicts future savings for 1–3 months</a:t>
            </a:r>
          </a:p>
        </p:txBody>
      </p:sp>
      <p:sp>
        <p:nvSpPr>
          <p:cNvPr id="133" name="Text Placeholder 132">
            <a:extLst>
              <a:ext uri="{FF2B5EF4-FFF2-40B4-BE49-F238E27FC236}">
                <a16:creationId xmlns:a16="http://schemas.microsoft.com/office/drawing/2014/main" id="{F73428BF-556B-39B3-A2E1-A3479B7A4368}"/>
              </a:ext>
            </a:extLst>
          </p:cNvPr>
          <p:cNvSpPr>
            <a:spLocks noGrp="1"/>
          </p:cNvSpPr>
          <p:nvPr>
            <p:ph type="body" sz="quarter" idx="30"/>
          </p:nvPr>
        </p:nvSpPr>
        <p:spPr>
          <a:xfrm>
            <a:off x="3341376" y="5207682"/>
            <a:ext cx="2974356" cy="577213"/>
          </a:xfrm>
        </p:spPr>
        <p:txBody>
          <a:bodyPr/>
          <a:lstStyle/>
          <a:p>
            <a:r>
              <a:rPr lang="en-IN" dirty="0"/>
              <a:t>Personalized Financial Advice</a:t>
            </a:r>
            <a:endParaRPr lang="en-US" dirty="0"/>
          </a:p>
        </p:txBody>
      </p:sp>
      <p:sp>
        <p:nvSpPr>
          <p:cNvPr id="134" name="Text Placeholder 133">
            <a:extLst>
              <a:ext uri="{FF2B5EF4-FFF2-40B4-BE49-F238E27FC236}">
                <a16:creationId xmlns:a16="http://schemas.microsoft.com/office/drawing/2014/main" id="{3519B91A-73EE-B2B8-4875-2C6A0113D333}"/>
              </a:ext>
            </a:extLst>
          </p:cNvPr>
          <p:cNvSpPr>
            <a:spLocks noGrp="1"/>
          </p:cNvSpPr>
          <p:nvPr>
            <p:ph type="body" sz="quarter" idx="31"/>
          </p:nvPr>
        </p:nvSpPr>
        <p:spPr/>
        <p:txBody>
          <a:bodyPr/>
          <a:lstStyle/>
          <a:p>
            <a:r>
              <a:rPr lang="en-IN" sz="1200" dirty="0"/>
              <a:t>Suggests actionable steps</a:t>
            </a:r>
            <a:endParaRPr lang="en-US" sz="1200" dirty="0"/>
          </a:p>
        </p:txBody>
      </p:sp>
      <p:sp>
        <p:nvSpPr>
          <p:cNvPr id="7" name="Text Placeholder 6">
            <a:extLst>
              <a:ext uri="{FF2B5EF4-FFF2-40B4-BE49-F238E27FC236}">
                <a16:creationId xmlns:a16="http://schemas.microsoft.com/office/drawing/2014/main" id="{24AD9EB9-CF0D-0D70-D541-05E1A813D00F}"/>
              </a:ext>
            </a:extLst>
          </p:cNvPr>
          <p:cNvSpPr>
            <a:spLocks noGrp="1"/>
          </p:cNvSpPr>
          <p:nvPr>
            <p:ph type="body" sz="quarter" idx="16"/>
          </p:nvPr>
        </p:nvSpPr>
        <p:spPr>
          <a:xfrm>
            <a:off x="5987128" y="3209544"/>
            <a:ext cx="2930730" cy="305814"/>
          </a:xfrm>
        </p:spPr>
        <p:txBody>
          <a:bodyPr/>
          <a:lstStyle/>
          <a:p>
            <a:r>
              <a:rPr lang="en-IN" dirty="0"/>
              <a:t>Loan Eligibility Assessment</a:t>
            </a:r>
            <a:endParaRPr lang="en-US" dirty="0"/>
          </a:p>
        </p:txBody>
      </p:sp>
      <p:sp>
        <p:nvSpPr>
          <p:cNvPr id="8" name="Text Placeholder 7">
            <a:extLst>
              <a:ext uri="{FF2B5EF4-FFF2-40B4-BE49-F238E27FC236}">
                <a16:creationId xmlns:a16="http://schemas.microsoft.com/office/drawing/2014/main" id="{869DE758-CE4B-6136-04AE-85B544CA6F5B}"/>
              </a:ext>
            </a:extLst>
          </p:cNvPr>
          <p:cNvSpPr>
            <a:spLocks noGrp="1"/>
          </p:cNvSpPr>
          <p:nvPr>
            <p:ph type="body" sz="quarter" idx="17"/>
          </p:nvPr>
        </p:nvSpPr>
        <p:spPr>
          <a:xfrm>
            <a:off x="6114542" y="3429000"/>
            <a:ext cx="2614605" cy="629314"/>
          </a:xfrm>
        </p:spPr>
        <p:txBody>
          <a:bodyPr/>
          <a:lstStyle/>
          <a:p>
            <a:r>
              <a:rPr lang="en-US" sz="1200" dirty="0"/>
              <a:t>Provides insights on loan approval chances and EMI </a:t>
            </a:r>
            <a:r>
              <a:rPr lang="en-US" sz="1200" dirty="0" err="1"/>
              <a:t>suggestionsr</a:t>
            </a:r>
            <a:endParaRPr lang="en-US" sz="1200" dirty="0"/>
          </a:p>
        </p:txBody>
      </p:sp>
      <p:sp>
        <p:nvSpPr>
          <p:cNvPr id="135" name="Text Placeholder 134">
            <a:extLst>
              <a:ext uri="{FF2B5EF4-FFF2-40B4-BE49-F238E27FC236}">
                <a16:creationId xmlns:a16="http://schemas.microsoft.com/office/drawing/2014/main" id="{747BF9B3-DF8F-789C-9AF6-94771E1AF5FE}"/>
              </a:ext>
            </a:extLst>
          </p:cNvPr>
          <p:cNvSpPr>
            <a:spLocks noGrp="1"/>
          </p:cNvSpPr>
          <p:nvPr>
            <p:ph type="body" sz="quarter" idx="32"/>
          </p:nvPr>
        </p:nvSpPr>
        <p:spPr>
          <a:xfrm>
            <a:off x="5943502" y="5400042"/>
            <a:ext cx="2974356" cy="305814"/>
          </a:xfrm>
        </p:spPr>
        <p:txBody>
          <a:bodyPr/>
          <a:lstStyle/>
          <a:p>
            <a:r>
              <a:rPr lang="en-IN" dirty="0"/>
              <a:t>Interactive &amp; User-Friendly Interface</a:t>
            </a:r>
            <a:endParaRPr lang="en-US" dirty="0"/>
          </a:p>
        </p:txBody>
      </p:sp>
      <p:sp>
        <p:nvSpPr>
          <p:cNvPr id="136" name="Text Placeholder 135">
            <a:extLst>
              <a:ext uri="{FF2B5EF4-FFF2-40B4-BE49-F238E27FC236}">
                <a16:creationId xmlns:a16="http://schemas.microsoft.com/office/drawing/2014/main" id="{A2297428-B6BC-F5B5-C82D-3BC4408EC576}"/>
              </a:ext>
            </a:extLst>
          </p:cNvPr>
          <p:cNvSpPr>
            <a:spLocks noGrp="1"/>
          </p:cNvSpPr>
          <p:nvPr>
            <p:ph type="body" sz="quarter" idx="33"/>
          </p:nvPr>
        </p:nvSpPr>
        <p:spPr>
          <a:xfrm>
            <a:off x="6225402" y="5784894"/>
            <a:ext cx="2286000" cy="405593"/>
          </a:xfrm>
        </p:spPr>
        <p:txBody>
          <a:bodyPr/>
          <a:lstStyle/>
          <a:p>
            <a:r>
              <a:rPr lang="en-US" sz="1200" dirty="0"/>
              <a:t>Built on </a:t>
            </a:r>
            <a:r>
              <a:rPr lang="en-US" sz="1200" dirty="0" err="1"/>
              <a:t>Streamlit</a:t>
            </a:r>
            <a:r>
              <a:rPr lang="en-US" sz="1200" dirty="0"/>
              <a:t> for easy navigation </a:t>
            </a:r>
          </a:p>
        </p:txBody>
      </p:sp>
      <p:sp>
        <p:nvSpPr>
          <p:cNvPr id="9" name="Text Placeholder 8">
            <a:extLst>
              <a:ext uri="{FF2B5EF4-FFF2-40B4-BE49-F238E27FC236}">
                <a16:creationId xmlns:a16="http://schemas.microsoft.com/office/drawing/2014/main" id="{22A99FBE-9850-5F5D-04D9-E3A83DEEA928}"/>
              </a:ext>
            </a:extLst>
          </p:cNvPr>
          <p:cNvSpPr>
            <a:spLocks noGrp="1"/>
          </p:cNvSpPr>
          <p:nvPr>
            <p:ph type="body" sz="quarter" idx="18"/>
          </p:nvPr>
        </p:nvSpPr>
        <p:spPr>
          <a:xfrm>
            <a:off x="8749676" y="3209544"/>
            <a:ext cx="2286000" cy="274320"/>
          </a:xfrm>
        </p:spPr>
        <p:txBody>
          <a:bodyPr/>
          <a:lstStyle/>
          <a:p>
            <a:r>
              <a:rPr lang="en-IN" dirty="0"/>
              <a:t>Fraud Detection</a:t>
            </a:r>
            <a:endParaRPr lang="en-US" dirty="0"/>
          </a:p>
        </p:txBody>
      </p:sp>
      <p:sp>
        <p:nvSpPr>
          <p:cNvPr id="10" name="Text Placeholder 9">
            <a:extLst>
              <a:ext uri="{FF2B5EF4-FFF2-40B4-BE49-F238E27FC236}">
                <a16:creationId xmlns:a16="http://schemas.microsoft.com/office/drawing/2014/main" id="{19AAB49A-6730-B2CF-9537-FF9551D4EB80}"/>
              </a:ext>
            </a:extLst>
          </p:cNvPr>
          <p:cNvSpPr>
            <a:spLocks noGrp="1"/>
          </p:cNvSpPr>
          <p:nvPr>
            <p:ph type="body" sz="quarter" idx="19"/>
          </p:nvPr>
        </p:nvSpPr>
        <p:spPr>
          <a:xfrm>
            <a:off x="8749676" y="3702636"/>
            <a:ext cx="2286000" cy="45719"/>
          </a:xfrm>
        </p:spPr>
        <p:txBody>
          <a:bodyPr/>
          <a:lstStyle/>
          <a:p>
            <a:r>
              <a:rPr lang="en-US" sz="1200" dirty="0"/>
              <a:t>Flags unusual or suspicious transactions</a:t>
            </a:r>
          </a:p>
        </p:txBody>
      </p:sp>
      <p:sp>
        <p:nvSpPr>
          <p:cNvPr id="137" name="Text Placeholder 136">
            <a:extLst>
              <a:ext uri="{FF2B5EF4-FFF2-40B4-BE49-F238E27FC236}">
                <a16:creationId xmlns:a16="http://schemas.microsoft.com/office/drawing/2014/main" id="{651B92A3-1DB6-8A7F-09B7-C7969D53FB3A}"/>
              </a:ext>
            </a:extLst>
          </p:cNvPr>
          <p:cNvSpPr>
            <a:spLocks noGrp="1"/>
          </p:cNvSpPr>
          <p:nvPr>
            <p:ph type="body" sz="quarter" idx="34"/>
          </p:nvPr>
        </p:nvSpPr>
        <p:spPr>
          <a:xfrm>
            <a:off x="8749676" y="5358384"/>
            <a:ext cx="2286000" cy="265176"/>
          </a:xfrm>
        </p:spPr>
        <p:txBody>
          <a:bodyPr/>
          <a:lstStyle/>
          <a:p>
            <a:r>
              <a:rPr lang="en-US" dirty="0"/>
              <a:t>Stock Analysis</a:t>
            </a:r>
          </a:p>
        </p:txBody>
      </p:sp>
      <p:sp>
        <p:nvSpPr>
          <p:cNvPr id="138" name="Text Placeholder 137">
            <a:extLst>
              <a:ext uri="{FF2B5EF4-FFF2-40B4-BE49-F238E27FC236}">
                <a16:creationId xmlns:a16="http://schemas.microsoft.com/office/drawing/2014/main" id="{462B07C6-5B4D-AB97-3376-C4F8BFC2C143}"/>
              </a:ext>
            </a:extLst>
          </p:cNvPr>
          <p:cNvSpPr>
            <a:spLocks noGrp="1"/>
          </p:cNvSpPr>
          <p:nvPr>
            <p:ph type="body" sz="quarter" idx="35"/>
          </p:nvPr>
        </p:nvSpPr>
        <p:spPr/>
        <p:txBody>
          <a:bodyPr/>
          <a:lstStyle/>
          <a:p>
            <a:r>
              <a:rPr lang="en-US" sz="1200" dirty="0"/>
              <a:t>insights, trend visualization, and simulated predictions</a:t>
            </a:r>
          </a:p>
        </p:txBody>
      </p:sp>
      <p:sp>
        <p:nvSpPr>
          <p:cNvPr id="2" name="Footer Placeholder 1">
            <a:extLst>
              <a:ext uri="{FF2B5EF4-FFF2-40B4-BE49-F238E27FC236}">
                <a16:creationId xmlns:a16="http://schemas.microsoft.com/office/drawing/2014/main" id="{E0C0AB0C-E0B6-7838-D865-2AB638122FD9}"/>
              </a:ext>
            </a:extLst>
          </p:cNvPr>
          <p:cNvSpPr>
            <a:spLocks noGrp="1"/>
          </p:cNvSpPr>
          <p:nvPr>
            <p:ph type="ftr" sz="quarter" idx="10"/>
          </p:nvPr>
        </p:nvSpPr>
        <p:spPr/>
        <p:txBody>
          <a:bodyPr/>
          <a:lstStyle/>
          <a:p>
            <a:r>
              <a:rPr lang="en-US" dirty="0"/>
              <a:t>FINWISE</a:t>
            </a:r>
          </a:p>
        </p:txBody>
      </p:sp>
      <p:pic>
        <p:nvPicPr>
          <p:cNvPr id="51" name="Picture Placeholder 50" descr="Loan with solid fill">
            <a:extLst>
              <a:ext uri="{FF2B5EF4-FFF2-40B4-BE49-F238E27FC236}">
                <a16:creationId xmlns:a16="http://schemas.microsoft.com/office/drawing/2014/main" id="{CACD6FF5-3E39-A0FC-917F-82FAAAB7BFD2}"/>
              </a:ext>
            </a:extLst>
          </p:cNvPr>
          <p:cNvPicPr>
            <a:picLocks noGrp="1" noChangeAspect="1"/>
          </p:cNvPicPr>
          <p:nvPr>
            <p:ph type="pic" sz="quarter" idx="22"/>
          </p:nvPr>
        </p:nvPicPr>
        <p:blipFill>
          <a:blip r:embed="rId2">
            <a:extLst>
              <a:ext uri="{96DAC541-7B7A-43D3-8B79-37D633B846F1}">
                <asvg:svgBlip xmlns:asvg="http://schemas.microsoft.com/office/drawing/2016/SVG/main" r:embed="rId3"/>
              </a:ext>
            </a:extLst>
          </a:blip>
          <a:srcRect t="75" b="75"/>
          <a:stretch>
            <a:fillRect/>
          </a:stretch>
        </p:blipFill>
        <p:spPr/>
      </p:pic>
      <p:pic>
        <p:nvPicPr>
          <p:cNvPr id="53" name="Picture Placeholder 52" descr="Close with solid fill">
            <a:extLst>
              <a:ext uri="{FF2B5EF4-FFF2-40B4-BE49-F238E27FC236}">
                <a16:creationId xmlns:a16="http://schemas.microsoft.com/office/drawing/2014/main" id="{A8574FD6-4A34-C0DE-ACA9-9A721EA30DB0}"/>
              </a:ext>
            </a:extLst>
          </p:cNvPr>
          <p:cNvPicPr>
            <a:picLocks noGrp="1" noChangeAspect="1"/>
          </p:cNvPicPr>
          <p:nvPr>
            <p:ph type="pic" sz="quarter" idx="23"/>
          </p:nvPr>
        </p:nvPicPr>
        <p:blipFill>
          <a:blip r:embed="rId4">
            <a:extLst>
              <a:ext uri="{96DAC541-7B7A-43D3-8B79-37D633B846F1}">
                <asvg:svgBlip xmlns:asvg="http://schemas.microsoft.com/office/drawing/2016/SVG/main" r:embed="rId5"/>
              </a:ext>
            </a:extLst>
          </a:blip>
          <a:srcRect t="75" b="75"/>
          <a:stretch>
            <a:fillRect/>
          </a:stretch>
        </p:blipFill>
        <p:spPr/>
      </p:pic>
      <p:pic>
        <p:nvPicPr>
          <p:cNvPr id="145" name="Picture Placeholder 144" descr="Upward trend with solid fill">
            <a:extLst>
              <a:ext uri="{FF2B5EF4-FFF2-40B4-BE49-F238E27FC236}">
                <a16:creationId xmlns:a16="http://schemas.microsoft.com/office/drawing/2014/main" id="{99720694-FDF2-BE6F-3041-001300107741}"/>
              </a:ext>
            </a:extLst>
          </p:cNvPr>
          <p:cNvPicPr>
            <a:picLocks noGrp="1" noChangeAspect="1"/>
          </p:cNvPicPr>
          <p:nvPr>
            <p:ph type="pic" sz="quarter" idx="27"/>
          </p:nvPr>
        </p:nvPicPr>
        <p:blipFill>
          <a:blip r:embed="rId6">
            <a:extLst>
              <a:ext uri="{96DAC541-7B7A-43D3-8B79-37D633B846F1}">
                <asvg:svgBlip xmlns:asvg="http://schemas.microsoft.com/office/drawing/2016/SVG/main" r:embed="rId7"/>
              </a:ext>
            </a:extLst>
          </a:blip>
          <a:srcRect/>
          <a:stretch>
            <a:fillRect/>
          </a:stretch>
        </p:blipFill>
        <p:spPr/>
      </p:pic>
      <p:pic>
        <p:nvPicPr>
          <p:cNvPr id="143" name="Picture Placeholder 142" descr="User with solid fill">
            <a:extLst>
              <a:ext uri="{FF2B5EF4-FFF2-40B4-BE49-F238E27FC236}">
                <a16:creationId xmlns:a16="http://schemas.microsoft.com/office/drawing/2014/main" id="{407F5062-F1A9-1E27-B87A-587ED65DD91C}"/>
              </a:ext>
            </a:extLst>
          </p:cNvPr>
          <p:cNvPicPr>
            <a:picLocks noGrp="1" noChangeAspect="1"/>
          </p:cNvPicPr>
          <p:nvPr>
            <p:ph type="pic" sz="quarter" idx="26"/>
          </p:nvPr>
        </p:nvPicPr>
        <p:blipFill>
          <a:blip r:embed="rId8">
            <a:extLst>
              <a:ext uri="{96DAC541-7B7A-43D3-8B79-37D633B846F1}">
                <asvg:svgBlip xmlns:asvg="http://schemas.microsoft.com/office/drawing/2016/SVG/main" r:embed="rId9"/>
              </a:ext>
            </a:extLst>
          </a:blip>
          <a:srcRect/>
          <a:stretch>
            <a:fillRect/>
          </a:stretch>
        </p:blipFill>
        <p:spPr/>
      </p:pic>
      <p:pic>
        <p:nvPicPr>
          <p:cNvPr id="129" name="Picture Placeholder 128" descr="Wallet outline">
            <a:extLst>
              <a:ext uri="{FF2B5EF4-FFF2-40B4-BE49-F238E27FC236}">
                <a16:creationId xmlns:a16="http://schemas.microsoft.com/office/drawing/2014/main" id="{939754D4-1318-5CCA-93DE-660BF216690C}"/>
              </a:ext>
            </a:extLst>
          </p:cNvPr>
          <p:cNvPicPr>
            <a:picLocks noGrp="1" noChangeAspect="1"/>
          </p:cNvPicPr>
          <p:nvPr>
            <p:ph type="pic" sz="quarter" idx="25"/>
          </p:nvPr>
        </p:nvPicPr>
        <p:blipFill>
          <a:blip r:embed="rId10">
            <a:extLst>
              <a:ext uri="{96DAC541-7B7A-43D3-8B79-37D633B846F1}">
                <asvg:svgBlip xmlns:asvg="http://schemas.microsoft.com/office/drawing/2016/SVG/main" r:embed="rId11"/>
              </a:ext>
            </a:extLst>
          </a:blip>
          <a:srcRect t="75" b="75"/>
          <a:stretch>
            <a:fillRect/>
          </a:stretch>
        </p:blipFill>
        <p:spPr/>
      </p:pic>
      <p:pic>
        <p:nvPicPr>
          <p:cNvPr id="63" name="Picture Placeholder 62" descr="Bar graph with upward trend with solid fill">
            <a:extLst>
              <a:ext uri="{FF2B5EF4-FFF2-40B4-BE49-F238E27FC236}">
                <a16:creationId xmlns:a16="http://schemas.microsoft.com/office/drawing/2014/main" id="{17CED846-9D4F-BDB7-22BF-BB58D45CEA44}"/>
              </a:ext>
            </a:extLst>
          </p:cNvPr>
          <p:cNvPicPr>
            <a:picLocks noGrp="1" noChangeAspect="1"/>
          </p:cNvPicPr>
          <p:nvPr>
            <p:ph type="pic" sz="quarter" idx="24"/>
          </p:nvPr>
        </p:nvPicPr>
        <p:blipFill>
          <a:blip r:embed="rId12">
            <a:extLst>
              <a:ext uri="{96DAC541-7B7A-43D3-8B79-37D633B846F1}">
                <asvg:svgBlip xmlns:asvg="http://schemas.microsoft.com/office/drawing/2016/SVG/main" r:embed="rId13"/>
              </a:ext>
            </a:extLst>
          </a:blip>
          <a:srcRect/>
          <a:stretch>
            <a:fillRect/>
          </a:stretch>
        </p:blipFill>
        <p:spPr/>
      </p:pic>
      <p:pic>
        <p:nvPicPr>
          <p:cNvPr id="57" name="Picture Placeholder 56" descr="Piggy Bank outline">
            <a:extLst>
              <a:ext uri="{FF2B5EF4-FFF2-40B4-BE49-F238E27FC236}">
                <a16:creationId xmlns:a16="http://schemas.microsoft.com/office/drawing/2014/main" id="{5C0E058E-5BA8-E7F1-23BD-53D26CFCE891}"/>
              </a:ext>
            </a:extLst>
          </p:cNvPr>
          <p:cNvPicPr>
            <a:picLocks noGrp="1" noChangeAspect="1"/>
          </p:cNvPicPr>
          <p:nvPr>
            <p:ph type="pic" sz="quarter" idx="21"/>
          </p:nvPr>
        </p:nvPicPr>
        <p:blipFill>
          <a:blip r:embed="rId14">
            <a:extLst>
              <a:ext uri="{96DAC541-7B7A-43D3-8B79-37D633B846F1}">
                <asvg:svgBlip xmlns:asvg="http://schemas.microsoft.com/office/drawing/2016/SVG/main" r:embed="rId15"/>
              </a:ext>
            </a:extLst>
          </a:blip>
          <a:srcRect t="75" b="75"/>
          <a:stretch>
            <a:fillRect/>
          </a:stretch>
        </p:blipFill>
        <p:spPr/>
      </p:pic>
      <p:pic>
        <p:nvPicPr>
          <p:cNvPr id="61" name="Picture Placeholder 60" descr="Coins outline">
            <a:extLst>
              <a:ext uri="{FF2B5EF4-FFF2-40B4-BE49-F238E27FC236}">
                <a16:creationId xmlns:a16="http://schemas.microsoft.com/office/drawing/2014/main" id="{15C5308C-FB46-E360-CC09-D689F29D7DF9}"/>
              </a:ext>
            </a:extLst>
          </p:cNvPr>
          <p:cNvPicPr>
            <a:picLocks noGrp="1" noChangeAspect="1"/>
          </p:cNvPicPr>
          <p:nvPr>
            <p:ph type="pic" sz="quarter" idx="20"/>
          </p:nvPr>
        </p:nvPicPr>
        <p:blipFill>
          <a:blip r:embed="rId16">
            <a:extLst>
              <a:ext uri="{96DAC541-7B7A-43D3-8B79-37D633B846F1}">
                <asvg:svgBlip xmlns:asvg="http://schemas.microsoft.com/office/drawing/2016/SVG/main" r:embed="rId17"/>
              </a:ext>
            </a:extLst>
          </a:blip>
          <a:srcRect/>
          <a:stretch>
            <a:fillRect/>
          </a:stretch>
        </p:blipFill>
        <p:spPr/>
      </p:pic>
    </p:spTree>
    <p:extLst>
      <p:ext uri="{BB962C8B-B14F-4D97-AF65-F5344CB8AC3E}">
        <p14:creationId xmlns:p14="http://schemas.microsoft.com/office/powerpoint/2010/main" val="840605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9E45E-D6A7-9780-F652-BAF86DFBCC00}"/>
              </a:ext>
            </a:extLst>
          </p:cNvPr>
          <p:cNvSpPr>
            <a:spLocks noGrp="1"/>
          </p:cNvSpPr>
          <p:nvPr>
            <p:ph type="title"/>
          </p:nvPr>
        </p:nvSpPr>
        <p:spPr/>
        <p:txBody>
          <a:bodyPr/>
          <a:lstStyle/>
          <a:p>
            <a:r>
              <a:rPr lang="en-IN" dirty="0"/>
              <a:t>Future Prospects</a:t>
            </a:r>
            <a:br>
              <a:rPr lang="en-US" dirty="0">
                <a:latin typeface="Segoe UI Light" panose="020B0502040204020203" pitchFamily="34" charset="0"/>
                <a:cs typeface="Segoe UI Light" panose="020B0502040204020203" pitchFamily="34" charset="0"/>
              </a:rPr>
            </a:br>
            <a:endParaRPr lang="en-US" dirty="0"/>
          </a:p>
        </p:txBody>
      </p:sp>
      <p:sp>
        <p:nvSpPr>
          <p:cNvPr id="8" name="Slide Number Placeholder 7">
            <a:extLst>
              <a:ext uri="{FF2B5EF4-FFF2-40B4-BE49-F238E27FC236}">
                <a16:creationId xmlns:a16="http://schemas.microsoft.com/office/drawing/2014/main" id="{85577A64-4E94-69E1-3180-1E014BD06B3C}"/>
              </a:ext>
            </a:extLst>
          </p:cNvPr>
          <p:cNvSpPr>
            <a:spLocks noGrp="1"/>
          </p:cNvSpPr>
          <p:nvPr>
            <p:ph type="sldNum" sz="quarter" idx="12"/>
          </p:nvPr>
        </p:nvSpPr>
        <p:spPr/>
        <p:txBody>
          <a:bodyPr/>
          <a:lstStyle/>
          <a:p>
            <a:fld id="{294A09A9-5501-47C1-A89A-A340965A2BE2}" type="slidenum">
              <a:rPr lang="en-US" smtClean="0"/>
              <a:t>9</a:t>
            </a:fld>
            <a:endParaRPr lang="en-US" dirty="0"/>
          </a:p>
        </p:txBody>
      </p:sp>
      <p:sp>
        <p:nvSpPr>
          <p:cNvPr id="3" name="Text Placeholder 2">
            <a:extLst>
              <a:ext uri="{FF2B5EF4-FFF2-40B4-BE49-F238E27FC236}">
                <a16:creationId xmlns:a16="http://schemas.microsoft.com/office/drawing/2014/main" id="{C31605EE-24B6-95D8-DE5E-BEC2F03ECECA}"/>
              </a:ext>
            </a:extLst>
          </p:cNvPr>
          <p:cNvSpPr>
            <a:spLocks noGrp="1"/>
          </p:cNvSpPr>
          <p:nvPr>
            <p:ph type="body" idx="1"/>
          </p:nvPr>
        </p:nvSpPr>
        <p:spPr>
          <a:xfrm>
            <a:off x="1536192" y="1536192"/>
            <a:ext cx="8512376" cy="942848"/>
          </a:xfrm>
        </p:spPr>
        <p:txBody>
          <a:bodyPr/>
          <a:lstStyle/>
          <a:p>
            <a:r>
              <a:rPr lang="en-US" sz="2000" dirty="0"/>
              <a:t>To expand the app into a comprehensive AI-driven personal finance assistant that empowers users to make smarter, safer, and more profitable financial decisions.</a:t>
            </a:r>
          </a:p>
          <a:p>
            <a:endParaRPr lang="en-US" dirty="0"/>
          </a:p>
        </p:txBody>
      </p:sp>
      <p:sp>
        <p:nvSpPr>
          <p:cNvPr id="4" name="Content Placeholder 3">
            <a:extLst>
              <a:ext uri="{FF2B5EF4-FFF2-40B4-BE49-F238E27FC236}">
                <a16:creationId xmlns:a16="http://schemas.microsoft.com/office/drawing/2014/main" id="{BE22F651-7ABC-015D-B5C4-622708A64CB1}"/>
              </a:ext>
            </a:extLst>
          </p:cNvPr>
          <p:cNvSpPr>
            <a:spLocks noGrp="1"/>
          </p:cNvSpPr>
          <p:nvPr>
            <p:ph sz="half" idx="2"/>
          </p:nvPr>
        </p:nvSpPr>
        <p:spPr>
          <a:xfrm>
            <a:off x="1536192" y="2743200"/>
            <a:ext cx="4019034" cy="2578608"/>
          </a:xfrm>
        </p:spPr>
        <p:txBody>
          <a:bodyPr/>
          <a:lstStyle/>
          <a:p>
            <a:r>
              <a:rPr lang="en-US" b="1" dirty="0"/>
              <a:t>Integration with Real Bank APIs: </a:t>
            </a:r>
            <a:r>
              <a:rPr lang="en-US" dirty="0"/>
              <a:t>Automatically track and categorize live transactions.</a:t>
            </a:r>
          </a:p>
          <a:p>
            <a:r>
              <a:rPr lang="en-US" b="1" dirty="0"/>
              <a:t>Advanced Fraud Detection:</a:t>
            </a:r>
            <a:r>
              <a:rPr lang="en-US" dirty="0"/>
              <a:t> Use deep learning models to detect complex fraudulent patterns.</a:t>
            </a:r>
          </a:p>
          <a:p>
            <a:r>
              <a:rPr lang="en-US" b="1" dirty="0"/>
              <a:t>Mobile Application Development:</a:t>
            </a:r>
            <a:r>
              <a:rPr lang="en-US" dirty="0"/>
              <a:t> Launch Android and iOS versions for wider accessibility.</a:t>
            </a:r>
          </a:p>
          <a:p>
            <a:r>
              <a:rPr lang="en-US" b="1" dirty="0"/>
              <a:t>Multi-Currency and Localization Support:</a:t>
            </a:r>
            <a:r>
              <a:rPr lang="en-US" dirty="0"/>
              <a:t> Adapt to global users with automatic currency conversion.</a:t>
            </a:r>
          </a:p>
          <a:p>
            <a:endParaRPr lang="en-US" dirty="0"/>
          </a:p>
        </p:txBody>
      </p:sp>
      <p:sp>
        <p:nvSpPr>
          <p:cNvPr id="6" name="Content Placeholder 5">
            <a:extLst>
              <a:ext uri="{FF2B5EF4-FFF2-40B4-BE49-F238E27FC236}">
                <a16:creationId xmlns:a16="http://schemas.microsoft.com/office/drawing/2014/main" id="{3DF22CC9-1295-2B21-05A9-68A44E669B8F}"/>
              </a:ext>
            </a:extLst>
          </p:cNvPr>
          <p:cNvSpPr>
            <a:spLocks noGrp="1"/>
          </p:cNvSpPr>
          <p:nvPr>
            <p:ph sz="quarter" idx="4"/>
          </p:nvPr>
        </p:nvSpPr>
        <p:spPr>
          <a:xfrm>
            <a:off x="5821680" y="2743200"/>
            <a:ext cx="4019034" cy="2578608"/>
          </a:xfrm>
        </p:spPr>
        <p:txBody>
          <a:bodyPr/>
          <a:lstStyle/>
          <a:p>
            <a:r>
              <a:rPr lang="en-US" b="1" dirty="0"/>
              <a:t>Real-Time Stock Market Integration:</a:t>
            </a:r>
            <a:r>
              <a:rPr lang="en-US" dirty="0"/>
              <a:t> Fetch live stock data and provide AI-based trading insights.</a:t>
            </a:r>
          </a:p>
          <a:p>
            <a:r>
              <a:rPr lang="en-US" b="1" dirty="0"/>
              <a:t>Cloud Database Integration:</a:t>
            </a:r>
            <a:r>
              <a:rPr lang="en-US" dirty="0"/>
              <a:t> Enable multi-user access and secure cloud storage of financial data.</a:t>
            </a:r>
          </a:p>
          <a:p>
            <a:r>
              <a:rPr lang="en-US" b="1" dirty="0"/>
              <a:t>Personalized Chatbot Assistant:</a:t>
            </a:r>
            <a:r>
              <a:rPr lang="en-US" dirty="0"/>
              <a:t> Offer instant financial guidance using NLP-powered chatbots.</a:t>
            </a:r>
          </a:p>
          <a:p>
            <a:r>
              <a:rPr lang="en-US" b="1" dirty="0"/>
              <a:t>Budget Planning &amp; Alerts:</a:t>
            </a:r>
            <a:r>
              <a:rPr lang="en-US" dirty="0"/>
              <a:t> Help users set monthly budgets and receive smart alerts for overspending.</a:t>
            </a:r>
          </a:p>
          <a:p>
            <a:endParaRPr lang="en-US" dirty="0"/>
          </a:p>
        </p:txBody>
      </p:sp>
      <p:sp>
        <p:nvSpPr>
          <p:cNvPr id="7" name="Footer Placeholder 6">
            <a:extLst>
              <a:ext uri="{FF2B5EF4-FFF2-40B4-BE49-F238E27FC236}">
                <a16:creationId xmlns:a16="http://schemas.microsoft.com/office/drawing/2014/main" id="{A9F57080-19CA-8BBA-6050-8494551D4615}"/>
              </a:ext>
            </a:extLst>
          </p:cNvPr>
          <p:cNvSpPr>
            <a:spLocks noGrp="1"/>
          </p:cNvSpPr>
          <p:nvPr>
            <p:ph type="ftr" sz="quarter" idx="11"/>
          </p:nvPr>
        </p:nvSpPr>
        <p:spPr/>
        <p:txBody>
          <a:bodyPr/>
          <a:lstStyle/>
          <a:p>
            <a:r>
              <a:rPr lang="en-US" dirty="0"/>
              <a:t>FINWISE</a:t>
            </a:r>
          </a:p>
        </p:txBody>
      </p:sp>
    </p:spTree>
    <p:extLst>
      <p:ext uri="{BB962C8B-B14F-4D97-AF65-F5344CB8AC3E}">
        <p14:creationId xmlns:p14="http://schemas.microsoft.com/office/powerpoint/2010/main" val="765210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5BC92-868A-26B2-CBC0-C9D94E65F1A4}"/>
              </a:ext>
            </a:extLst>
          </p:cNvPr>
          <p:cNvSpPr>
            <a:spLocks noGrp="1"/>
          </p:cNvSpPr>
          <p:nvPr>
            <p:ph type="ctrTitle"/>
          </p:nvPr>
        </p:nvSpPr>
        <p:spPr>
          <a:xfrm>
            <a:off x="2228088" y="1317524"/>
            <a:ext cx="7735824" cy="1966746"/>
          </a:xfrm>
        </p:spPr>
        <p:txBody>
          <a:bodyPr/>
          <a:lstStyle/>
          <a:p>
            <a:r>
              <a:rPr lang="en-US" sz="4000" b="1" spc="600" dirty="0">
                <a:ln w="28575">
                  <a:noFill/>
                  <a:prstDash val="solid"/>
                </a:ln>
                <a:solidFill>
                  <a:schemeClr val="bg1"/>
                </a:solidFill>
                <a:latin typeface="Tw Cen MT" panose="020B0602020104020603" pitchFamily="34" charset="77"/>
                <a:ea typeface="Verdana" panose="020B0604030504040204" pitchFamily="34" charset="0"/>
                <a:cs typeface="Verdana" panose="020B0604030504040204" pitchFamily="34" charset="0"/>
              </a:rPr>
              <a:t>SUMMARY</a:t>
            </a:r>
            <a:endParaRPr lang="en-US" dirty="0"/>
          </a:p>
        </p:txBody>
      </p:sp>
      <p:sp>
        <p:nvSpPr>
          <p:cNvPr id="3" name="Subtitle 2">
            <a:extLst>
              <a:ext uri="{FF2B5EF4-FFF2-40B4-BE49-F238E27FC236}">
                <a16:creationId xmlns:a16="http://schemas.microsoft.com/office/drawing/2014/main" id="{6F9C1627-7A56-025E-482D-E2AB014EDF92}"/>
              </a:ext>
            </a:extLst>
          </p:cNvPr>
          <p:cNvSpPr>
            <a:spLocks noGrp="1"/>
          </p:cNvSpPr>
          <p:nvPr>
            <p:ph type="subTitle" idx="1"/>
          </p:nvPr>
        </p:nvSpPr>
        <p:spPr>
          <a:xfrm>
            <a:off x="1907458" y="3573730"/>
            <a:ext cx="8308258" cy="1133856"/>
          </a:xfrm>
        </p:spPr>
        <p:txBody>
          <a:bodyPr/>
          <a:lstStyle/>
          <a:p>
            <a:r>
              <a:rPr lang="en-US" dirty="0"/>
              <a:t>The system is designed to help users manage their finances by tracking income and expenses, predicting savings, analyzing stock trends, assessing loan eligibility, and detecting fraud. The app offers </a:t>
            </a:r>
            <a:r>
              <a:rPr lang="en-US" b="1" dirty="0"/>
              <a:t>data-driven insights</a:t>
            </a:r>
            <a:r>
              <a:rPr lang="en-US" dirty="0"/>
              <a:t> and </a:t>
            </a:r>
            <a:r>
              <a:rPr lang="en-US" b="1" dirty="0"/>
              <a:t>personalized advice</a:t>
            </a:r>
            <a:r>
              <a:rPr lang="en-US" dirty="0"/>
              <a:t> through an interactive, user-friendly interface. In the future, it aims to become a </a:t>
            </a:r>
            <a:r>
              <a:rPr lang="en-US" b="1" dirty="0"/>
              <a:t>comprehensive digital finance assistant</a:t>
            </a:r>
            <a:r>
              <a:rPr lang="en-US" dirty="0"/>
              <a:t> with real-time data integration, mobile support, and advanced security features.</a:t>
            </a:r>
          </a:p>
        </p:txBody>
      </p:sp>
    </p:spTree>
    <p:extLst>
      <p:ext uri="{BB962C8B-B14F-4D97-AF65-F5344CB8AC3E}">
        <p14:creationId xmlns:p14="http://schemas.microsoft.com/office/powerpoint/2010/main" val="1958759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892-81E6-551C-7B5A-DEA68224520B}"/>
              </a:ext>
            </a:extLst>
          </p:cNvPr>
          <p:cNvSpPr>
            <a:spLocks noGrp="1"/>
          </p:cNvSpPr>
          <p:nvPr>
            <p:ph type="title"/>
          </p:nvPr>
        </p:nvSpPr>
        <p:spPr/>
        <p:txBody>
          <a:bodyPr/>
          <a:lstStyle/>
          <a:p>
            <a:r>
              <a:rPr lang="en-US" sz="4800" b="1" spc="600" dirty="0">
                <a:ln w="28575">
                  <a:noFill/>
                  <a:prstDash val="solid"/>
                </a:ln>
                <a:solidFill>
                  <a:schemeClr val="bg1"/>
                </a:solidFill>
                <a:latin typeface="Tw Cen MT" panose="020B0602020104020603" pitchFamily="34" charset="77"/>
              </a:rPr>
              <a:t>THANK YOU</a:t>
            </a:r>
            <a:endParaRPr lang="en-US" dirty="0"/>
          </a:p>
        </p:txBody>
      </p:sp>
      <p:sp>
        <p:nvSpPr>
          <p:cNvPr id="3" name="Text Placeholder 2">
            <a:extLst>
              <a:ext uri="{FF2B5EF4-FFF2-40B4-BE49-F238E27FC236}">
                <a16:creationId xmlns:a16="http://schemas.microsoft.com/office/drawing/2014/main" id="{55519D01-29BE-BE76-41C5-9D58AD8119DC}"/>
              </a:ext>
            </a:extLst>
          </p:cNvPr>
          <p:cNvSpPr>
            <a:spLocks noGrp="1"/>
          </p:cNvSpPr>
          <p:nvPr>
            <p:ph type="body" idx="1"/>
          </p:nvPr>
        </p:nvSpPr>
        <p:spPr/>
        <p:txBody>
          <a:bodyPr/>
          <a:lstStyle/>
          <a:p>
            <a:r>
              <a:rPr lang="en-US" b="1" dirty="0"/>
              <a:t>Developed By: </a:t>
            </a:r>
          </a:p>
          <a:p>
            <a:pPr marL="342900" indent="-342900">
              <a:buFont typeface="Arial" panose="020B0604020202020204" pitchFamily="34" charset="0"/>
              <a:buChar char="•"/>
            </a:pPr>
            <a:r>
              <a:rPr lang="en-US" sz="2000" b="1" dirty="0"/>
              <a:t>Riddhi Gandhi (S24CSEU0322)</a:t>
            </a:r>
          </a:p>
          <a:p>
            <a:pPr marL="342900" indent="-342900">
              <a:buFont typeface="Arial" panose="020B0604020202020204" pitchFamily="34" charset="0"/>
              <a:buChar char="•"/>
            </a:pPr>
            <a:r>
              <a:rPr lang="en-US" sz="2000" b="1" dirty="0"/>
              <a:t>Aditi Verma(S24CSEU0283)</a:t>
            </a:r>
          </a:p>
          <a:p>
            <a:pPr marL="342900" indent="-342900">
              <a:buFont typeface="Arial" panose="020B0604020202020204" pitchFamily="34" charset="0"/>
              <a:buChar char="•"/>
            </a:pPr>
            <a:r>
              <a:rPr lang="en-US" sz="2000" b="1" dirty="0"/>
              <a:t>Saif Khan(S24CSEU0337)</a:t>
            </a:r>
            <a:endParaRPr lang="en-US" sz="2000" dirty="0"/>
          </a:p>
          <a:p>
            <a:endParaRPr lang="en-US" dirty="0"/>
          </a:p>
        </p:txBody>
      </p:sp>
    </p:spTree>
    <p:extLst>
      <p:ext uri="{BB962C8B-B14F-4D97-AF65-F5344CB8AC3E}">
        <p14:creationId xmlns:p14="http://schemas.microsoft.com/office/powerpoint/2010/main" val="1877701230"/>
      </p:ext>
    </p:extLst>
  </p:cSld>
  <p:clrMapOvr>
    <a:masterClrMapping/>
  </p:clrMapOvr>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A4A3FD6-E6BF-490E-B6B4-6A011394B0EB}">
  <ds:schemaRefs>
    <ds:schemaRef ds:uri="http://schemas.microsoft.com/office/infopath/2007/PartnerControls"/>
    <ds:schemaRef ds:uri="http://schemas.microsoft.com/office/2006/documentManagement/types"/>
    <ds:schemaRef ds:uri="71af3243-3dd4-4a8d-8c0d-dd76da1f02a5"/>
    <ds:schemaRef ds:uri="http://schemas.microsoft.com/sharepoint/v3"/>
    <ds:schemaRef ds:uri="http://purl.org/dc/elements/1.1/"/>
    <ds:schemaRef ds:uri="http://schemas.microsoft.com/office/2006/metadata/properties"/>
    <ds:schemaRef ds:uri="16c05727-aa75-4e4a-9b5f-8a80a1165891"/>
    <ds:schemaRef ds:uri="http://schemas.openxmlformats.org/package/2006/metadata/core-properties"/>
    <ds:schemaRef ds:uri="http://www.w3.org/XML/1998/namespace"/>
    <ds:schemaRef ds:uri="230e9df3-be65-4c73-a93b-d1236ebd677e"/>
    <ds:schemaRef ds:uri="http://purl.org/dc/dcmitype/"/>
    <ds:schemaRef ds:uri="http://purl.org/dc/terms/"/>
  </ds:schemaRefs>
</ds:datastoreItem>
</file>

<file path=customXml/itemProps2.xml><?xml version="1.0" encoding="utf-8"?>
<ds:datastoreItem xmlns:ds="http://schemas.openxmlformats.org/officeDocument/2006/customXml" ds:itemID="{62CF8670-35D1-4455-AC7A-762B7388BE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3C4A95C-9007-4EA6-944B-306B6F2A010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TM66925244</Template>
  <TotalTime>216</TotalTime>
  <Words>763</Words>
  <Application>Microsoft Office PowerPoint</Application>
  <PresentationFormat>Widescreen</PresentationFormat>
  <Paragraphs>88</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Courier New</vt:lpstr>
      <vt:lpstr>Segoe UI Light</vt:lpstr>
      <vt:lpstr>Tw Cen MT</vt:lpstr>
      <vt:lpstr>Office Theme</vt:lpstr>
      <vt:lpstr>FinWise</vt:lpstr>
      <vt:lpstr>CONTENTS</vt:lpstr>
      <vt:lpstr>introduction</vt:lpstr>
      <vt:lpstr>Problem statement</vt:lpstr>
      <vt:lpstr>Proposed Solution</vt:lpstr>
      <vt:lpstr>Goal &amp; Objectives </vt:lpstr>
      <vt:lpstr>Technology Used</vt:lpstr>
      <vt:lpstr>Key features</vt:lpstr>
      <vt:lpstr>Future Prospects </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Riddhi Gandhi</dc:creator>
  <cp:lastModifiedBy>Riddhi Gandhi</cp:lastModifiedBy>
  <cp:revision>2</cp:revision>
  <dcterms:created xsi:type="dcterms:W3CDTF">2025-11-12T17:35:39Z</dcterms:created>
  <dcterms:modified xsi:type="dcterms:W3CDTF">2025-11-12T21:17:09Z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